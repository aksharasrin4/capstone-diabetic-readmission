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AUC Score</c:v>
                </c:pt>
              </c:strCache>
            </c:strRef>
          </c:tx>
          <c:spPr>
            <a:solidFill>
              <a:srgbClr val="9CB9BF"/>
            </a:solidFill>
            <a:effectLst/>
          </c:spPr>
          <c:invertIfNegative val="0"/>
          <c:dPt>
            <c:idx val="0"/>
            <c:invertIfNegative val="0"/>
            <c:bubble3D val="0"/>
            <c:extLst>
              <c:ext xmlns:c16="http://schemas.microsoft.com/office/drawing/2014/chart" uri="{C3380CC4-5D6E-409C-BE32-E72D297353CC}">
                <c16:uniqueId val="{00000001-27FC-482C-9AEB-B6AF1C925280}"/>
              </c:ext>
            </c:extLst>
          </c:dPt>
          <c:dPt>
            <c:idx val="1"/>
            <c:invertIfNegative val="0"/>
            <c:bubble3D val="0"/>
            <c:spPr>
              <a:solidFill>
                <a:srgbClr val="5A9EA6"/>
              </a:solidFill>
              <a:effectLst/>
            </c:spPr>
            <c:extLst>
              <c:ext xmlns:c16="http://schemas.microsoft.com/office/drawing/2014/chart" uri="{C3380CC4-5D6E-409C-BE32-E72D297353CC}">
                <c16:uniqueId val="{00000003-27FC-482C-9AEB-B6AF1C925280}"/>
              </c:ext>
            </c:extLst>
          </c:dPt>
          <c:dPt>
            <c:idx val="2"/>
            <c:invertIfNegative val="0"/>
            <c:bubble3D val="0"/>
            <c:spPr>
              <a:solidFill>
                <a:srgbClr val="1B7A84"/>
              </a:solidFill>
              <a:effectLst/>
            </c:spPr>
            <c:extLst>
              <c:ext xmlns:c16="http://schemas.microsoft.com/office/drawing/2014/chart" uri="{C3380CC4-5D6E-409C-BE32-E72D297353CC}">
                <c16:uniqueId val="{00000005-27FC-482C-9AEB-B6AF1C925280}"/>
              </c:ext>
            </c:extLst>
          </c:dPt>
          <c:dPt>
            <c:idx val="3"/>
            <c:invertIfNegative val="0"/>
            <c:bubble3D val="0"/>
            <c:spPr>
              <a:solidFill>
                <a:srgbClr val="0D5C63"/>
              </a:solidFill>
              <a:effectLst/>
            </c:spPr>
            <c:extLst>
              <c:ext xmlns:c16="http://schemas.microsoft.com/office/drawing/2014/chart" uri="{C3380CC4-5D6E-409C-BE32-E72D297353CC}">
                <c16:uniqueId val="{00000007-27FC-482C-9AEB-B6AF1C925280}"/>
              </c:ext>
            </c:extLst>
          </c:dPt>
          <c:dLbls>
            <c:numFmt formatCode="#,##0" sourceLinked="0"/>
            <c:spPr>
              <a:noFill/>
              <a:ln>
                <a:noFill/>
              </a:ln>
              <a:effectLst/>
            </c:spPr>
            <c:txPr>
              <a:bodyPr/>
              <a:lstStyle/>
              <a:p>
                <a:pPr>
                  <a:defRPr sz="11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Decision
Tree</c:v>
                </c:pt>
                <c:pt idx="2">
                  <c:v>Random
Forest</c:v>
                </c:pt>
                <c:pt idx="3">
                  <c:v>XGBoost</c:v>
                </c:pt>
              </c:strCache>
            </c:strRef>
          </c:cat>
          <c:val>
            <c:numRef>
              <c:f>Sheet1!$B$2:$B$5</c:f>
              <c:numCache>
                <c:formatCode>General</c:formatCode>
                <c:ptCount val="4"/>
                <c:pt idx="0">
                  <c:v>0.61750000000000005</c:v>
                </c:pt>
                <c:pt idx="1">
                  <c:v>0.63319999999999999</c:v>
                </c:pt>
                <c:pt idx="2">
                  <c:v>0.64800000000000002</c:v>
                </c:pt>
                <c:pt idx="3">
                  <c:v>0.65880000000000005</c:v>
                </c:pt>
              </c:numCache>
            </c:numRef>
          </c:val>
          <c:extLst>
            <c:ext xmlns:c16="http://schemas.microsoft.com/office/drawing/2014/chart" uri="{C3380CC4-5D6E-409C-BE32-E72D297353CC}">
              <c16:uniqueId val="{00000008-27FC-482C-9AEB-B6AF1C92528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0.7"/>
          <c:min val="0.5500000000000000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681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My name is Akshara Miriyala, and this is my MS Business Analytics capstone presentation. The project is titled Predicting and Prescribing Diabetic Patient Readmission Risk. The core idea is that most healthcare analytics stops at prediction — it tells you a patient might be readmitted. My project goes further and asks: what should we do about it before the patient leaves the hospital? I will walk you through the business problem, my data, my analytical methods, results, and clinical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agenda for today's presentation. I will cover the business problem, the dataset and approach, the four models I built, results and evaluation, clinical recommendations derived from the analysis, conclusions, a note on Gen-AI usage, and supporting materials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is hospital readmission. When a patient is discharged and returns within 30 days, it costs the healthcare system enormously — over 26 billion dollars annually in the US. For diabetic patients specifically, the 30-day readmission rate exceeds 20%, the highest of any chronic condition. CMS actively penalizes hospitals for this. The deeper problem is that most analytics only predicts risk — it does not tell clinicians what to do about it. My core research question is: which specific clinical decisions at discharge most reduce a diabetic patient's risk of returning within 30 days? This shifts the project from prediction to prescription.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Diabetes 130-US Hospitals dataset from the UCI Machine Learning Repository, based on the peer-reviewed 2014 paper by Strack and colleagues. It contains 101,766 raw patient encounters across 130 US hospitals. I deduplicated to 71,515 unique patients by keeping only each patient's first encounter, which prevents data leakage. There are 50 original features covering demographics, hospital stay details, diagnoses, medications, lab results, and discharge information. After preprocessing I used 44 features. Only 8.8% of patients were readmitted within 30 days, creating a class imbalance that I addressed explicitly in every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analytical pipeline has six phases. Phase 1 was data cleaning — removing duplicate patient encounters and handling missing values. Phase 2 was exploratory data analysis with 7 visualization plots. Phase 3 was feature engineering — encoding categorical variables and creating a stratified 70/30 train-test split. Phase 4 built four machine learning models. Phase 5 evaluated them using AUC-ROC as the primary metric. Phase 6 is the prescriptive layer — the most important and novel part of the project. Three key decisions shaped the methodology: keeping only first encounters to prevent data leakage, using class_weight balanced in every model, and using AUC rather than accuracy because accuracy is meaningless for imbalanced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four models, all evaluated on the same held-out test set. Logistic Regression is my interpretable baseline at AUC 0.6175. Decision Tree comes in third at 0.6332 — it is uniquely valuable because you can print its decision rules as a clinical checklist. Random Forest reaches 0.6480 using 300 independent trees whose errors cancel out. XGBoost is the winner at AUC 0.6588. Unlike Random Forest which builds trees independently, XGBoost builds them sequentially — each new tree corrects the mistakes of all previous trees. I used scale_pos_weight of 10.35 to handle the class imbalance natively in XGBoost.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is the best model with an AUC of 0.6588, followed by Random Forest at 0.6480, Decision Tree at 0.6332, and Logistic Regression at 0.6175. I want to address why AUC values in the 0.61 to 0.66 range are meaningful even though they seem modest. First, a model that just says 'not readmitted' for every patient achieves 91.2% accuracy but catches exactly zero readmissions. AUC measures the model's ability to rank patients by risk, which is what matters clinically. Second, AUC in this range is consistent with published literature on this specific problem — structured EHR data has inherent limitations because it cannot capture social factors like whether the patient has someone at home to help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importance analysis reveals which features most strongly predict readmission. I look for agreement between Random Forest and XGBoost — features in both models' top 10 are the most reliable because they are not artifacts of one algorithm's specific learning approach. The consistently top-ranked features are number of lab procedures, number of medications, time in hospital, number of diagnoses, discharge destination, and insulin adjustment status. Critically, most of these are directly observable and actionable at the point of discharge — which is exactly what makes this project prescriptive, not just predictive.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most important part — the prescriptive recommendations. These four recommendations are directly derived from the data and validated by both models. First: any patient hospitalized for 5 or more days should trigger enhanced discharge planning — readmission risk doubles from 6.4% at one day to 12% at 8 days. Second: mandate A1C testing for all diabetic discharges. Third — and this is the most surprising finding: patients whose insulin was reduced at discharge had the highest readmission rate of all groups at 10.3%. This suggests insulin is being reduced prematurely. Any dose reduction should trigger a 48-hour phone follow-up. Fourth: patients on 20 or more medications have a 10.2% readmission rate versus 5.8% for patients on only 1 to 5 medications. Mandatory pharmacist review before discharge for polypharmacy patients.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XGBoost is the best model at AUC 0.6588. The most critical clinical finding is that insulin dose reduction at discharge carries the highest readmission risk of all groups. The project demonstrates the complete MS Business Analytics cycle — statistical modeling, data mining, visualization, and business translation. Future extensions include SHAP values for individual patient explanations and an interactive risk scoring tool that clinicians could use at the bedside. I want to thank Professor Rooker and my second reader for their guidance throughout this project.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the use of generative AI in the project as required by the submission guidelines. I used Claude, an AI assistant by Anthropic, to help structure and debug my Python code pipeline and to assist with formatting the project report and this presentation. All analytical decisions — model selection, hyperparameter choices, interpretation of results, and clinical recommendations — were made independently by me. No AI tool was used to generate, fabricate, or modify any data. All results you have seen are direct outputs from my code running on the original UCI dataset. This presentation was also checked with Turnitin.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5C63"/>
        </a:solidFill>
        <a:effectLst/>
      </p:bgPr>
    </p:bg>
    <p:spTree>
      <p:nvGrpSpPr>
        <p:cNvPr id="1" name=""/>
        <p:cNvGrpSpPr/>
        <p:nvPr/>
      </p:nvGrpSpPr>
      <p:grpSpPr>
        <a:xfrm>
          <a:off x="0" y="0"/>
          <a:ext cx="0" cy="0"/>
          <a:chOff x="0" y="0"/>
          <a:chExt cx="0" cy="0"/>
        </a:xfrm>
      </p:grpSpPr>
      <p:sp>
        <p:nvSpPr>
          <p:cNvPr id="2" name="Shape 0"/>
          <p:cNvSpPr/>
          <p:nvPr/>
        </p:nvSpPr>
        <p:spPr>
          <a:xfrm>
            <a:off x="7132320" y="-1097280"/>
            <a:ext cx="3200400" cy="3200400"/>
          </a:xfrm>
          <a:prstGeom prst="ellipse">
            <a:avLst/>
          </a:prstGeom>
          <a:solidFill>
            <a:srgbClr val="0D9488">
              <a:alpha val="40000"/>
            </a:srgbClr>
          </a:solidFill>
          <a:ln w="12700">
            <a:solidFill>
              <a:srgbClr val="0D9488"/>
            </a:solidFill>
            <a:prstDash val="solid"/>
          </a:ln>
        </p:spPr>
      </p:sp>
      <p:sp>
        <p:nvSpPr>
          <p:cNvPr id="3" name="Shape 1"/>
          <p:cNvSpPr/>
          <p:nvPr/>
        </p:nvSpPr>
        <p:spPr>
          <a:xfrm>
            <a:off x="7772400" y="3200400"/>
            <a:ext cx="2011680" cy="2011680"/>
          </a:xfrm>
          <a:prstGeom prst="ellipse">
            <a:avLst/>
          </a:prstGeom>
          <a:solidFill>
            <a:srgbClr val="E0A800">
              <a:alpha val="25000"/>
            </a:srgbClr>
          </a:solidFill>
          <a:ln w="12700">
            <a:solidFill>
              <a:srgbClr val="E0A800"/>
            </a:solidFill>
            <a:prstDash val="solid"/>
          </a:ln>
        </p:spPr>
      </p:sp>
      <p:sp>
        <p:nvSpPr>
          <p:cNvPr id="4" name="Text 2"/>
          <p:cNvSpPr/>
          <p:nvPr/>
        </p:nvSpPr>
        <p:spPr>
          <a:xfrm>
            <a:off x="502920" y="640080"/>
            <a:ext cx="7772400" cy="6858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Predicting and Prescribing</a:t>
            </a:r>
            <a:endParaRPr lang="en-US" sz="3600" dirty="0"/>
          </a:p>
        </p:txBody>
      </p:sp>
      <p:sp>
        <p:nvSpPr>
          <p:cNvPr id="5" name="Text 3"/>
          <p:cNvSpPr/>
          <p:nvPr/>
        </p:nvSpPr>
        <p:spPr>
          <a:xfrm>
            <a:off x="502920" y="1298448"/>
            <a:ext cx="7772400" cy="685800"/>
          </a:xfrm>
          <a:prstGeom prst="rect">
            <a:avLst/>
          </a:prstGeom>
          <a:noFill/>
          <a:ln/>
        </p:spPr>
        <p:txBody>
          <a:bodyPr wrap="square" lIns="0" tIns="0" rIns="0" bIns="0" rtlCol="0" anchor="ctr"/>
          <a:lstStyle/>
          <a:p>
            <a:pPr marL="0" indent="0">
              <a:buNone/>
            </a:pPr>
            <a:r>
              <a:rPr lang="en-US" sz="3600" b="1" dirty="0">
                <a:solidFill>
                  <a:srgbClr val="E0A800"/>
                </a:solidFill>
                <a:latin typeface="Cambria" pitchFamily="34" charset="0"/>
                <a:ea typeface="Cambria" pitchFamily="34" charset="-122"/>
                <a:cs typeface="Cambria" pitchFamily="34" charset="-120"/>
              </a:rPr>
              <a:t>Diabetic Patient Readmission Risk</a:t>
            </a:r>
            <a:endParaRPr lang="en-US" sz="3600" dirty="0"/>
          </a:p>
        </p:txBody>
      </p:sp>
      <p:sp>
        <p:nvSpPr>
          <p:cNvPr id="6" name="Text 4"/>
          <p:cNvSpPr/>
          <p:nvPr/>
        </p:nvSpPr>
        <p:spPr>
          <a:xfrm>
            <a:off x="502920" y="2029968"/>
            <a:ext cx="7772400" cy="411480"/>
          </a:xfrm>
          <a:prstGeom prst="rect">
            <a:avLst/>
          </a:prstGeom>
          <a:noFill/>
          <a:ln/>
        </p:spPr>
        <p:txBody>
          <a:bodyPr wrap="square" lIns="0" tIns="0" rIns="0" bIns="0" rtlCol="0" anchor="ctr"/>
          <a:lstStyle/>
          <a:p>
            <a:pPr marL="0" indent="0">
              <a:buNone/>
            </a:pPr>
            <a:r>
              <a:rPr lang="en-US" sz="1600" i="1" dirty="0">
                <a:solidFill>
                  <a:srgbClr val="CCEDE9"/>
                </a:solidFill>
                <a:latin typeface="Arial" pitchFamily="34" charset="0"/>
                <a:ea typeface="Arial" pitchFamily="34" charset="-122"/>
                <a:cs typeface="Arial" pitchFamily="34" charset="-120"/>
              </a:rPr>
              <a:t>Turning Clinical Prediction into a Discharge Decision Tool</a:t>
            </a:r>
            <a:endParaRPr lang="en-US" sz="1600" dirty="0"/>
          </a:p>
        </p:txBody>
      </p:sp>
      <p:sp>
        <p:nvSpPr>
          <p:cNvPr id="7" name="Shape 5"/>
          <p:cNvSpPr/>
          <p:nvPr/>
        </p:nvSpPr>
        <p:spPr>
          <a:xfrm>
            <a:off x="502920" y="2560320"/>
            <a:ext cx="4114800" cy="0"/>
          </a:xfrm>
          <a:prstGeom prst="line">
            <a:avLst/>
          </a:prstGeom>
          <a:noFill/>
          <a:ln w="25400">
            <a:solidFill>
              <a:srgbClr val="E0A800"/>
            </a:solidFill>
            <a:prstDash val="solid"/>
          </a:ln>
        </p:spPr>
      </p:sp>
      <p:sp>
        <p:nvSpPr>
          <p:cNvPr id="8" name="Text 6"/>
          <p:cNvSpPr/>
          <p:nvPr/>
        </p:nvSpPr>
        <p:spPr>
          <a:xfrm>
            <a:off x="502920" y="2697480"/>
            <a:ext cx="6400800" cy="1463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Akshara Miriyala</a:t>
            </a:r>
            <a:endParaRPr lang="en-US" sz="1300" dirty="0"/>
          </a:p>
          <a:p>
            <a:pPr marL="0" indent="0">
              <a:buNone/>
            </a:pPr>
            <a:r>
              <a:rPr lang="en-US" sz="1300" dirty="0">
                <a:solidFill>
                  <a:srgbClr val="FFFFFF"/>
                </a:solidFill>
                <a:latin typeface="Arial" pitchFamily="34" charset="0"/>
                <a:ea typeface="Arial" pitchFamily="34" charset="-122"/>
                <a:cs typeface="Arial" pitchFamily="34" charset="-120"/>
              </a:rPr>
              <a:t>MS Business Analytics  |  University of Cincinnati</a:t>
            </a:r>
            <a:endParaRPr lang="en-US" sz="1300" dirty="0"/>
          </a:p>
          <a:p>
            <a:pPr marL="0" indent="0">
              <a:buNone/>
            </a:pPr>
            <a:r>
              <a:rPr lang="en-US" sz="1300" dirty="0">
                <a:solidFill>
                  <a:srgbClr val="FFFFFF"/>
                </a:solidFill>
                <a:latin typeface="Arial" pitchFamily="34" charset="0"/>
                <a:ea typeface="Arial" pitchFamily="34" charset="-122"/>
                <a:cs typeface="Arial" pitchFamily="34" charset="-120"/>
              </a:rPr>
              <a:t>BANA 7099 — Capstone  </a:t>
            </a:r>
            <a:endParaRPr lang="en-US" sz="1300" dirty="0"/>
          </a:p>
          <a:p>
            <a:pPr marL="0" indent="0">
              <a:buNone/>
            </a:pPr>
            <a:r>
              <a:rPr lang="en-US" sz="1300" dirty="0">
                <a:solidFill>
                  <a:srgbClr val="FFFFFF"/>
                </a:solidFill>
                <a:latin typeface="Arial" pitchFamily="34" charset="0"/>
                <a:ea typeface="Arial" pitchFamily="34" charset="-122"/>
                <a:cs typeface="Arial" pitchFamily="34" charset="-120"/>
              </a:rPr>
              <a:t>Spring 2026</a:t>
            </a:r>
            <a:endParaRPr lang="en-US" sz="1300" dirty="0"/>
          </a:p>
        </p:txBody>
      </p:sp>
      <p:sp>
        <p:nvSpPr>
          <p:cNvPr id="9" name="Shape 7"/>
          <p:cNvSpPr/>
          <p:nvPr/>
        </p:nvSpPr>
        <p:spPr>
          <a:xfrm>
            <a:off x="502920" y="4160520"/>
            <a:ext cx="1920240" cy="777240"/>
          </a:xfrm>
          <a:prstGeom prst="roundRect">
            <a:avLst>
              <a:gd name="adj" fmla="val 9412"/>
            </a:avLst>
          </a:prstGeom>
          <a:solidFill>
            <a:srgbClr val="0D2B2E">
              <a:alpha val="70000"/>
            </a:srgbClr>
          </a:solidFill>
          <a:ln w="12700">
            <a:solidFill>
              <a:srgbClr val="E0A800"/>
            </a:solidFill>
            <a:prstDash val="solid"/>
          </a:ln>
        </p:spPr>
      </p:sp>
      <p:sp>
        <p:nvSpPr>
          <p:cNvPr id="10" name="Text 8"/>
          <p:cNvSpPr/>
          <p:nvPr/>
        </p:nvSpPr>
        <p:spPr>
          <a:xfrm>
            <a:off x="502920" y="4187952"/>
            <a:ext cx="1920240" cy="310896"/>
          </a:xfrm>
          <a:prstGeom prst="rect">
            <a:avLst/>
          </a:prstGeom>
          <a:noFill/>
          <a:ln/>
        </p:spPr>
        <p:txBody>
          <a:bodyPr wrap="square" lIns="0" tIns="0" rIns="0" bIns="0" rtlCol="0" anchor="ctr"/>
          <a:lstStyle/>
          <a:p>
            <a:pPr marL="0" indent="0" algn="ctr">
              <a:buNone/>
            </a:pPr>
            <a:r>
              <a:rPr lang="en-US" sz="1600" b="1" dirty="0">
                <a:solidFill>
                  <a:srgbClr val="E0A800"/>
                </a:solidFill>
                <a:latin typeface="Cambria" pitchFamily="34" charset="0"/>
                <a:ea typeface="Cambria" pitchFamily="34" charset="-122"/>
                <a:cs typeface="Cambria" pitchFamily="34" charset="-120"/>
              </a:rPr>
              <a:t>101,766</a:t>
            </a:r>
            <a:endParaRPr lang="en-US" sz="1600" dirty="0"/>
          </a:p>
        </p:txBody>
      </p:sp>
      <p:sp>
        <p:nvSpPr>
          <p:cNvPr id="11" name="Text 9"/>
          <p:cNvSpPr/>
          <p:nvPr/>
        </p:nvSpPr>
        <p:spPr>
          <a:xfrm>
            <a:off x="502920" y="4480560"/>
            <a:ext cx="1920240" cy="41148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Raw Patient</a:t>
            </a:r>
            <a:endParaRPr lang="en-US" sz="800" dirty="0"/>
          </a:p>
          <a:p>
            <a:pPr marL="0" indent="0" algn="ctr">
              <a:buNone/>
            </a:pPr>
            <a:r>
              <a:rPr lang="en-US" sz="800" dirty="0">
                <a:solidFill>
                  <a:srgbClr val="FFFFFF"/>
                </a:solidFill>
                <a:latin typeface="Arial" pitchFamily="34" charset="0"/>
                <a:ea typeface="Arial" pitchFamily="34" charset="-122"/>
                <a:cs typeface="Arial" pitchFamily="34" charset="-120"/>
              </a:rPr>
              <a:t>Records</a:t>
            </a:r>
            <a:endParaRPr lang="en-US" sz="800" dirty="0"/>
          </a:p>
        </p:txBody>
      </p:sp>
      <p:sp>
        <p:nvSpPr>
          <p:cNvPr id="12" name="Shape 10"/>
          <p:cNvSpPr/>
          <p:nvPr/>
        </p:nvSpPr>
        <p:spPr>
          <a:xfrm>
            <a:off x="2679192" y="4160520"/>
            <a:ext cx="1920240" cy="777240"/>
          </a:xfrm>
          <a:prstGeom prst="roundRect">
            <a:avLst>
              <a:gd name="adj" fmla="val 9412"/>
            </a:avLst>
          </a:prstGeom>
          <a:solidFill>
            <a:srgbClr val="0D2B2E">
              <a:alpha val="70000"/>
            </a:srgbClr>
          </a:solidFill>
          <a:ln w="12700">
            <a:solidFill>
              <a:srgbClr val="E0A800"/>
            </a:solidFill>
            <a:prstDash val="solid"/>
          </a:ln>
        </p:spPr>
      </p:sp>
      <p:sp>
        <p:nvSpPr>
          <p:cNvPr id="13" name="Text 11"/>
          <p:cNvSpPr/>
          <p:nvPr/>
        </p:nvSpPr>
        <p:spPr>
          <a:xfrm>
            <a:off x="2679192" y="4187952"/>
            <a:ext cx="1920240" cy="310896"/>
          </a:xfrm>
          <a:prstGeom prst="rect">
            <a:avLst/>
          </a:prstGeom>
          <a:noFill/>
          <a:ln/>
        </p:spPr>
        <p:txBody>
          <a:bodyPr wrap="square" lIns="0" tIns="0" rIns="0" bIns="0" rtlCol="0" anchor="ctr"/>
          <a:lstStyle/>
          <a:p>
            <a:pPr marL="0" indent="0" algn="ctr">
              <a:buNone/>
            </a:pPr>
            <a:r>
              <a:rPr lang="en-US" sz="1600" b="1" dirty="0">
                <a:solidFill>
                  <a:srgbClr val="E0A800"/>
                </a:solidFill>
                <a:latin typeface="Cambria" pitchFamily="34" charset="0"/>
                <a:ea typeface="Cambria" pitchFamily="34" charset="-122"/>
                <a:cs typeface="Cambria" pitchFamily="34" charset="-120"/>
              </a:rPr>
              <a:t>71,515</a:t>
            </a:r>
            <a:endParaRPr lang="en-US" sz="1600" dirty="0"/>
          </a:p>
        </p:txBody>
      </p:sp>
      <p:sp>
        <p:nvSpPr>
          <p:cNvPr id="14" name="Text 12"/>
          <p:cNvSpPr/>
          <p:nvPr/>
        </p:nvSpPr>
        <p:spPr>
          <a:xfrm>
            <a:off x="2679192" y="4480560"/>
            <a:ext cx="1920240" cy="41148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Unique</a:t>
            </a:r>
            <a:endParaRPr lang="en-US" sz="800" dirty="0"/>
          </a:p>
          <a:p>
            <a:pPr marL="0" indent="0" algn="ctr">
              <a:buNone/>
            </a:pPr>
            <a:r>
              <a:rPr lang="en-US" sz="800" dirty="0">
                <a:solidFill>
                  <a:srgbClr val="FFFFFF"/>
                </a:solidFill>
                <a:latin typeface="Arial" pitchFamily="34" charset="0"/>
                <a:ea typeface="Arial" pitchFamily="34" charset="-122"/>
                <a:cs typeface="Arial" pitchFamily="34" charset="-120"/>
              </a:rPr>
              <a:t>Patients</a:t>
            </a:r>
            <a:endParaRPr lang="en-US" sz="800" dirty="0"/>
          </a:p>
        </p:txBody>
      </p:sp>
      <p:sp>
        <p:nvSpPr>
          <p:cNvPr id="15" name="Shape 13"/>
          <p:cNvSpPr/>
          <p:nvPr/>
        </p:nvSpPr>
        <p:spPr>
          <a:xfrm>
            <a:off x="4855464" y="4160520"/>
            <a:ext cx="1920240" cy="777240"/>
          </a:xfrm>
          <a:prstGeom prst="roundRect">
            <a:avLst>
              <a:gd name="adj" fmla="val 9412"/>
            </a:avLst>
          </a:prstGeom>
          <a:solidFill>
            <a:srgbClr val="0D2B2E">
              <a:alpha val="70000"/>
            </a:srgbClr>
          </a:solidFill>
          <a:ln w="12700">
            <a:solidFill>
              <a:srgbClr val="E0A800"/>
            </a:solidFill>
            <a:prstDash val="solid"/>
          </a:ln>
        </p:spPr>
      </p:sp>
      <p:sp>
        <p:nvSpPr>
          <p:cNvPr id="16" name="Text 14"/>
          <p:cNvSpPr/>
          <p:nvPr/>
        </p:nvSpPr>
        <p:spPr>
          <a:xfrm>
            <a:off x="4855464" y="4187952"/>
            <a:ext cx="1920240" cy="310896"/>
          </a:xfrm>
          <a:prstGeom prst="rect">
            <a:avLst/>
          </a:prstGeom>
          <a:noFill/>
          <a:ln/>
        </p:spPr>
        <p:txBody>
          <a:bodyPr wrap="square" lIns="0" tIns="0" rIns="0" bIns="0" rtlCol="0" anchor="ctr"/>
          <a:lstStyle/>
          <a:p>
            <a:pPr marL="0" indent="0" algn="ctr">
              <a:buNone/>
            </a:pPr>
            <a:r>
              <a:rPr lang="en-US" sz="1600" b="1" dirty="0">
                <a:solidFill>
                  <a:srgbClr val="E0A800"/>
                </a:solidFill>
                <a:latin typeface="Cambria" pitchFamily="34" charset="0"/>
                <a:ea typeface="Cambria" pitchFamily="34" charset="-122"/>
                <a:cs typeface="Cambria" pitchFamily="34" charset="-120"/>
              </a:rPr>
              <a:t>4</a:t>
            </a:r>
            <a:endParaRPr lang="en-US" sz="1600" dirty="0"/>
          </a:p>
        </p:txBody>
      </p:sp>
      <p:sp>
        <p:nvSpPr>
          <p:cNvPr id="17" name="Text 15"/>
          <p:cNvSpPr/>
          <p:nvPr/>
        </p:nvSpPr>
        <p:spPr>
          <a:xfrm>
            <a:off x="4855464" y="4480560"/>
            <a:ext cx="1920240" cy="41148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Models</a:t>
            </a:r>
            <a:endParaRPr lang="en-US" sz="800" dirty="0"/>
          </a:p>
          <a:p>
            <a:pPr marL="0" indent="0" algn="ctr">
              <a:buNone/>
            </a:pPr>
            <a:r>
              <a:rPr lang="en-US" sz="800" dirty="0">
                <a:solidFill>
                  <a:srgbClr val="FFFFFF"/>
                </a:solidFill>
                <a:latin typeface="Arial" pitchFamily="34" charset="0"/>
                <a:ea typeface="Arial" pitchFamily="34" charset="-122"/>
                <a:cs typeface="Arial" pitchFamily="34" charset="-120"/>
              </a:rPr>
              <a:t>Built</a:t>
            </a:r>
            <a:endParaRPr lang="en-US" sz="800" dirty="0"/>
          </a:p>
        </p:txBody>
      </p:sp>
      <p:sp>
        <p:nvSpPr>
          <p:cNvPr id="18" name="Shape 16"/>
          <p:cNvSpPr/>
          <p:nvPr/>
        </p:nvSpPr>
        <p:spPr>
          <a:xfrm>
            <a:off x="7031736" y="4160520"/>
            <a:ext cx="1920240" cy="777240"/>
          </a:xfrm>
          <a:prstGeom prst="roundRect">
            <a:avLst>
              <a:gd name="adj" fmla="val 9412"/>
            </a:avLst>
          </a:prstGeom>
          <a:solidFill>
            <a:srgbClr val="0D2B2E">
              <a:alpha val="70000"/>
            </a:srgbClr>
          </a:solidFill>
          <a:ln w="12700">
            <a:solidFill>
              <a:srgbClr val="E0A800"/>
            </a:solidFill>
            <a:prstDash val="solid"/>
          </a:ln>
        </p:spPr>
      </p:sp>
      <p:sp>
        <p:nvSpPr>
          <p:cNvPr id="19" name="Text 17"/>
          <p:cNvSpPr/>
          <p:nvPr/>
        </p:nvSpPr>
        <p:spPr>
          <a:xfrm>
            <a:off x="7031736" y="4187952"/>
            <a:ext cx="1920240" cy="310896"/>
          </a:xfrm>
          <a:prstGeom prst="rect">
            <a:avLst/>
          </a:prstGeom>
          <a:noFill/>
          <a:ln/>
        </p:spPr>
        <p:txBody>
          <a:bodyPr wrap="square" lIns="0" tIns="0" rIns="0" bIns="0" rtlCol="0" anchor="ctr"/>
          <a:lstStyle/>
          <a:p>
            <a:pPr marL="0" indent="0" algn="ctr">
              <a:buNone/>
            </a:pPr>
            <a:r>
              <a:rPr lang="en-US" sz="1600" b="1" dirty="0">
                <a:solidFill>
                  <a:srgbClr val="E0A800"/>
                </a:solidFill>
                <a:latin typeface="Cambria" pitchFamily="34" charset="0"/>
                <a:ea typeface="Cambria" pitchFamily="34" charset="-122"/>
                <a:cs typeface="Cambria" pitchFamily="34" charset="-120"/>
              </a:rPr>
              <a:t>0.6588</a:t>
            </a:r>
            <a:endParaRPr lang="en-US" sz="1600" dirty="0"/>
          </a:p>
        </p:txBody>
      </p:sp>
      <p:sp>
        <p:nvSpPr>
          <p:cNvPr id="20" name="Text 18"/>
          <p:cNvSpPr/>
          <p:nvPr/>
        </p:nvSpPr>
        <p:spPr>
          <a:xfrm>
            <a:off x="7031736" y="4480560"/>
            <a:ext cx="1920240" cy="41148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Best AUC</a:t>
            </a:r>
            <a:endParaRPr lang="en-US" sz="800" dirty="0"/>
          </a:p>
          <a:p>
            <a:pPr marL="0" indent="0" algn="ctr">
              <a:buNone/>
            </a:pPr>
            <a:r>
              <a:rPr lang="en-US" sz="800" dirty="0">
                <a:solidFill>
                  <a:srgbClr val="FFFFFF"/>
                </a:solidFill>
                <a:latin typeface="Arial" pitchFamily="34" charset="0"/>
                <a:ea typeface="Arial" pitchFamily="34" charset="-122"/>
                <a:cs typeface="Arial" pitchFamily="34" charset="-120"/>
              </a:rPr>
              <a:t>(XGBoost)</a:t>
            </a:r>
            <a:endParaRPr lang="en-US" sz="800" dirty="0"/>
          </a:p>
        </p:txBody>
      </p:sp>
    </p:spTree>
  </p:cSld>
  <p:clrMapOvr>
    <a:masterClrMapping/>
  </p:clrMapOvr>
  <mc:AlternateContent xmlns:mc="http://schemas.openxmlformats.org/markup-compatibility/2006" xmlns:p14="http://schemas.microsoft.com/office/powerpoint/2010/main">
    <mc:Choice Requires="p14">
      <p:transition spd="slow" p14:dur="2000" advTm="25727"/>
    </mc:Choice>
    <mc:Fallback xmlns="">
      <p:transition spd="slow" advTm="2572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A"/>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0D5C63"/>
                </a:solidFill>
                <a:latin typeface="Cambria" pitchFamily="34" charset="0"/>
                <a:ea typeface="Cambria" pitchFamily="34" charset="-122"/>
                <a:cs typeface="Cambria" pitchFamily="34" charset="-120"/>
              </a:rPr>
              <a:t>Agenda</a:t>
            </a:r>
            <a:endParaRPr lang="en-US" sz="2800" dirty="0"/>
          </a:p>
        </p:txBody>
      </p:sp>
      <p:sp>
        <p:nvSpPr>
          <p:cNvPr id="3" name="Shape 1"/>
          <p:cNvSpPr/>
          <p:nvPr/>
        </p:nvSpPr>
        <p:spPr>
          <a:xfrm>
            <a:off x="411480" y="868680"/>
            <a:ext cx="416052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4" name="Shape 2"/>
          <p:cNvSpPr/>
          <p:nvPr/>
        </p:nvSpPr>
        <p:spPr>
          <a:xfrm>
            <a:off x="484632" y="1033272"/>
            <a:ext cx="384048" cy="384048"/>
          </a:xfrm>
          <a:prstGeom prst="roundRect">
            <a:avLst>
              <a:gd name="adj" fmla="val 19048"/>
            </a:avLst>
          </a:prstGeom>
          <a:solidFill>
            <a:srgbClr val="0D5C63"/>
          </a:solidFill>
          <a:ln w="12700">
            <a:solidFill>
              <a:srgbClr val="0D5C63"/>
            </a:solidFill>
            <a:prstDash val="solid"/>
          </a:ln>
        </p:spPr>
      </p:sp>
      <p:sp>
        <p:nvSpPr>
          <p:cNvPr id="5" name="Text 3"/>
          <p:cNvSpPr/>
          <p:nvPr/>
        </p:nvSpPr>
        <p:spPr>
          <a:xfrm>
            <a:off x="484632" y="103327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sp>
        <p:nvSpPr>
          <p:cNvPr id="6" name="Text 4"/>
          <p:cNvSpPr/>
          <p:nvPr/>
        </p:nvSpPr>
        <p:spPr>
          <a:xfrm>
            <a:off x="960120" y="960120"/>
            <a:ext cx="3520440"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Business Problem</a:t>
            </a:r>
            <a:endParaRPr lang="en-US" sz="1200" dirty="0"/>
          </a:p>
        </p:txBody>
      </p:sp>
      <p:sp>
        <p:nvSpPr>
          <p:cNvPr id="7" name="Text 5"/>
          <p:cNvSpPr/>
          <p:nvPr/>
        </p:nvSpPr>
        <p:spPr>
          <a:xfrm>
            <a:off x="960120" y="1271016"/>
            <a:ext cx="3520440" cy="329184"/>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Why diabetic readmission costs $26B+ annually</a:t>
            </a:r>
            <a:endParaRPr lang="en-US" sz="950" dirty="0"/>
          </a:p>
        </p:txBody>
      </p:sp>
      <p:sp>
        <p:nvSpPr>
          <p:cNvPr id="8" name="Shape 6"/>
          <p:cNvSpPr/>
          <p:nvPr/>
        </p:nvSpPr>
        <p:spPr>
          <a:xfrm>
            <a:off x="411480" y="1856232"/>
            <a:ext cx="416052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9" name="Shape 7"/>
          <p:cNvSpPr/>
          <p:nvPr/>
        </p:nvSpPr>
        <p:spPr>
          <a:xfrm>
            <a:off x="484632" y="2020824"/>
            <a:ext cx="384048" cy="384048"/>
          </a:xfrm>
          <a:prstGeom prst="roundRect">
            <a:avLst>
              <a:gd name="adj" fmla="val 19048"/>
            </a:avLst>
          </a:prstGeom>
          <a:solidFill>
            <a:srgbClr val="0D5C63"/>
          </a:solidFill>
          <a:ln w="12700">
            <a:solidFill>
              <a:srgbClr val="0D5C63"/>
            </a:solidFill>
            <a:prstDash val="solid"/>
          </a:ln>
        </p:spPr>
      </p:sp>
      <p:sp>
        <p:nvSpPr>
          <p:cNvPr id="10" name="Text 8"/>
          <p:cNvSpPr/>
          <p:nvPr/>
        </p:nvSpPr>
        <p:spPr>
          <a:xfrm>
            <a:off x="484632" y="202082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sp>
        <p:nvSpPr>
          <p:cNvPr id="11" name="Text 9"/>
          <p:cNvSpPr/>
          <p:nvPr/>
        </p:nvSpPr>
        <p:spPr>
          <a:xfrm>
            <a:off x="960120" y="1947672"/>
            <a:ext cx="3520440"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Data &amp; Approach</a:t>
            </a:r>
            <a:endParaRPr lang="en-US" sz="1200" dirty="0"/>
          </a:p>
        </p:txBody>
      </p:sp>
      <p:sp>
        <p:nvSpPr>
          <p:cNvPr id="12" name="Text 10"/>
          <p:cNvSpPr/>
          <p:nvPr/>
        </p:nvSpPr>
        <p:spPr>
          <a:xfrm>
            <a:off x="960120" y="2258568"/>
            <a:ext cx="3520440" cy="329184"/>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101,766 patient records across 130 US hospitals</a:t>
            </a:r>
            <a:endParaRPr lang="en-US" sz="950" dirty="0"/>
          </a:p>
        </p:txBody>
      </p:sp>
      <p:sp>
        <p:nvSpPr>
          <p:cNvPr id="13" name="Shape 11"/>
          <p:cNvSpPr/>
          <p:nvPr/>
        </p:nvSpPr>
        <p:spPr>
          <a:xfrm>
            <a:off x="411480" y="2843784"/>
            <a:ext cx="416052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14" name="Shape 12"/>
          <p:cNvSpPr/>
          <p:nvPr/>
        </p:nvSpPr>
        <p:spPr>
          <a:xfrm>
            <a:off x="484632" y="3008376"/>
            <a:ext cx="384048" cy="384048"/>
          </a:xfrm>
          <a:prstGeom prst="roundRect">
            <a:avLst>
              <a:gd name="adj" fmla="val 19048"/>
            </a:avLst>
          </a:prstGeom>
          <a:solidFill>
            <a:srgbClr val="0D5C63"/>
          </a:solidFill>
          <a:ln w="12700">
            <a:solidFill>
              <a:srgbClr val="0D5C63"/>
            </a:solidFill>
            <a:prstDash val="solid"/>
          </a:ln>
        </p:spPr>
      </p:sp>
      <p:sp>
        <p:nvSpPr>
          <p:cNvPr id="15" name="Text 13"/>
          <p:cNvSpPr/>
          <p:nvPr/>
        </p:nvSpPr>
        <p:spPr>
          <a:xfrm>
            <a:off x="484632" y="3008376"/>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sp>
        <p:nvSpPr>
          <p:cNvPr id="16" name="Text 14"/>
          <p:cNvSpPr/>
          <p:nvPr/>
        </p:nvSpPr>
        <p:spPr>
          <a:xfrm>
            <a:off x="960120" y="2935224"/>
            <a:ext cx="3520440"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Analytical Methods</a:t>
            </a:r>
            <a:endParaRPr lang="en-US" sz="1200" dirty="0"/>
          </a:p>
        </p:txBody>
      </p:sp>
      <p:sp>
        <p:nvSpPr>
          <p:cNvPr id="17" name="Text 15"/>
          <p:cNvSpPr/>
          <p:nvPr/>
        </p:nvSpPr>
        <p:spPr>
          <a:xfrm>
            <a:off x="960120" y="3246120"/>
            <a:ext cx="3520440" cy="329184"/>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4 machine learning models compared</a:t>
            </a:r>
            <a:endParaRPr lang="en-US" sz="950" dirty="0"/>
          </a:p>
        </p:txBody>
      </p:sp>
      <p:sp>
        <p:nvSpPr>
          <p:cNvPr id="18" name="Shape 16"/>
          <p:cNvSpPr/>
          <p:nvPr/>
        </p:nvSpPr>
        <p:spPr>
          <a:xfrm>
            <a:off x="411480" y="3831336"/>
            <a:ext cx="416052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19" name="Shape 17"/>
          <p:cNvSpPr/>
          <p:nvPr/>
        </p:nvSpPr>
        <p:spPr>
          <a:xfrm>
            <a:off x="484632" y="3995928"/>
            <a:ext cx="384048" cy="384048"/>
          </a:xfrm>
          <a:prstGeom prst="roundRect">
            <a:avLst>
              <a:gd name="adj" fmla="val 19048"/>
            </a:avLst>
          </a:prstGeom>
          <a:solidFill>
            <a:srgbClr val="0D5C63"/>
          </a:solidFill>
          <a:ln w="12700">
            <a:solidFill>
              <a:srgbClr val="0D5C63"/>
            </a:solidFill>
            <a:prstDash val="solid"/>
          </a:ln>
        </p:spPr>
      </p:sp>
      <p:sp>
        <p:nvSpPr>
          <p:cNvPr id="20" name="Text 18"/>
          <p:cNvSpPr/>
          <p:nvPr/>
        </p:nvSpPr>
        <p:spPr>
          <a:xfrm>
            <a:off x="484632" y="399592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04</a:t>
            </a:r>
            <a:endParaRPr lang="en-US" sz="1100" dirty="0"/>
          </a:p>
        </p:txBody>
      </p:sp>
      <p:sp>
        <p:nvSpPr>
          <p:cNvPr id="21" name="Text 19"/>
          <p:cNvSpPr/>
          <p:nvPr/>
        </p:nvSpPr>
        <p:spPr>
          <a:xfrm>
            <a:off x="960120" y="3922776"/>
            <a:ext cx="3520440"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Results</a:t>
            </a:r>
            <a:endParaRPr lang="en-US" sz="1200" dirty="0"/>
          </a:p>
        </p:txBody>
      </p:sp>
      <p:sp>
        <p:nvSpPr>
          <p:cNvPr id="22" name="Text 20"/>
          <p:cNvSpPr/>
          <p:nvPr/>
        </p:nvSpPr>
        <p:spPr>
          <a:xfrm>
            <a:off x="960120" y="4233672"/>
            <a:ext cx="3520440" cy="329184"/>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XGBoost AUC = 0.6588 — best model</a:t>
            </a:r>
            <a:endParaRPr lang="en-US" sz="950" dirty="0"/>
          </a:p>
        </p:txBody>
      </p:sp>
      <p:sp>
        <p:nvSpPr>
          <p:cNvPr id="23" name="Shape 21"/>
          <p:cNvSpPr/>
          <p:nvPr/>
        </p:nvSpPr>
        <p:spPr>
          <a:xfrm>
            <a:off x="4846320" y="868680"/>
            <a:ext cx="416052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24" name="Shape 22"/>
          <p:cNvSpPr/>
          <p:nvPr/>
        </p:nvSpPr>
        <p:spPr>
          <a:xfrm>
            <a:off x="4919472" y="1033272"/>
            <a:ext cx="384048" cy="384048"/>
          </a:xfrm>
          <a:prstGeom prst="roundRect">
            <a:avLst>
              <a:gd name="adj" fmla="val 19048"/>
            </a:avLst>
          </a:prstGeom>
          <a:solidFill>
            <a:srgbClr val="0D5C63"/>
          </a:solidFill>
          <a:ln w="12700">
            <a:solidFill>
              <a:srgbClr val="0D5C63"/>
            </a:solidFill>
            <a:prstDash val="solid"/>
          </a:ln>
        </p:spPr>
      </p:sp>
      <p:sp>
        <p:nvSpPr>
          <p:cNvPr id="25" name="Text 23"/>
          <p:cNvSpPr/>
          <p:nvPr/>
        </p:nvSpPr>
        <p:spPr>
          <a:xfrm>
            <a:off x="4919472" y="103327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05</a:t>
            </a:r>
            <a:endParaRPr lang="en-US" sz="1100" dirty="0"/>
          </a:p>
        </p:txBody>
      </p:sp>
      <p:sp>
        <p:nvSpPr>
          <p:cNvPr id="26" name="Text 24"/>
          <p:cNvSpPr/>
          <p:nvPr/>
        </p:nvSpPr>
        <p:spPr>
          <a:xfrm>
            <a:off x="5394960" y="960120"/>
            <a:ext cx="3520440"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Recommendations</a:t>
            </a:r>
            <a:endParaRPr lang="en-US" sz="1200" dirty="0"/>
          </a:p>
        </p:txBody>
      </p:sp>
      <p:sp>
        <p:nvSpPr>
          <p:cNvPr id="27" name="Text 25"/>
          <p:cNvSpPr/>
          <p:nvPr/>
        </p:nvSpPr>
        <p:spPr>
          <a:xfrm>
            <a:off x="5394960" y="1271016"/>
            <a:ext cx="3520440" cy="329184"/>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4 clinical discharge interventions</a:t>
            </a:r>
            <a:endParaRPr lang="en-US" sz="950" dirty="0"/>
          </a:p>
        </p:txBody>
      </p:sp>
      <p:sp>
        <p:nvSpPr>
          <p:cNvPr id="28" name="Shape 26"/>
          <p:cNvSpPr/>
          <p:nvPr/>
        </p:nvSpPr>
        <p:spPr>
          <a:xfrm>
            <a:off x="4846320" y="1856232"/>
            <a:ext cx="416052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29" name="Shape 27"/>
          <p:cNvSpPr/>
          <p:nvPr/>
        </p:nvSpPr>
        <p:spPr>
          <a:xfrm>
            <a:off x="4919472" y="2020824"/>
            <a:ext cx="384048" cy="384048"/>
          </a:xfrm>
          <a:prstGeom prst="roundRect">
            <a:avLst>
              <a:gd name="adj" fmla="val 19048"/>
            </a:avLst>
          </a:prstGeom>
          <a:solidFill>
            <a:srgbClr val="0D5C63"/>
          </a:solidFill>
          <a:ln w="12700">
            <a:solidFill>
              <a:srgbClr val="0D5C63"/>
            </a:solidFill>
            <a:prstDash val="solid"/>
          </a:ln>
        </p:spPr>
      </p:sp>
      <p:sp>
        <p:nvSpPr>
          <p:cNvPr id="30" name="Text 28"/>
          <p:cNvSpPr/>
          <p:nvPr/>
        </p:nvSpPr>
        <p:spPr>
          <a:xfrm>
            <a:off x="4919472" y="202082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06</a:t>
            </a:r>
            <a:endParaRPr lang="en-US" sz="1100" dirty="0"/>
          </a:p>
        </p:txBody>
      </p:sp>
      <p:sp>
        <p:nvSpPr>
          <p:cNvPr id="31" name="Text 29"/>
          <p:cNvSpPr/>
          <p:nvPr/>
        </p:nvSpPr>
        <p:spPr>
          <a:xfrm>
            <a:off x="5394960" y="1947672"/>
            <a:ext cx="3520440"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Conclusions</a:t>
            </a:r>
            <a:endParaRPr lang="en-US" sz="1200" dirty="0"/>
          </a:p>
        </p:txBody>
      </p:sp>
      <p:sp>
        <p:nvSpPr>
          <p:cNvPr id="32" name="Text 30"/>
          <p:cNvSpPr/>
          <p:nvPr/>
        </p:nvSpPr>
        <p:spPr>
          <a:xfrm>
            <a:off x="5394960" y="2258568"/>
            <a:ext cx="3520440" cy="329184"/>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Key findings + future work</a:t>
            </a:r>
            <a:endParaRPr lang="en-US" sz="950" dirty="0"/>
          </a:p>
        </p:txBody>
      </p:sp>
      <p:sp>
        <p:nvSpPr>
          <p:cNvPr id="33" name="Shape 31"/>
          <p:cNvSpPr/>
          <p:nvPr/>
        </p:nvSpPr>
        <p:spPr>
          <a:xfrm>
            <a:off x="4846320" y="2843784"/>
            <a:ext cx="416052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34" name="Shape 32"/>
          <p:cNvSpPr/>
          <p:nvPr/>
        </p:nvSpPr>
        <p:spPr>
          <a:xfrm>
            <a:off x="4919472" y="3008376"/>
            <a:ext cx="384048" cy="384048"/>
          </a:xfrm>
          <a:prstGeom prst="roundRect">
            <a:avLst>
              <a:gd name="adj" fmla="val 19048"/>
            </a:avLst>
          </a:prstGeom>
          <a:solidFill>
            <a:srgbClr val="0D5C63"/>
          </a:solidFill>
          <a:ln w="12700">
            <a:solidFill>
              <a:srgbClr val="0D5C63"/>
            </a:solidFill>
            <a:prstDash val="solid"/>
          </a:ln>
        </p:spPr>
      </p:sp>
      <p:sp>
        <p:nvSpPr>
          <p:cNvPr id="35" name="Text 33"/>
          <p:cNvSpPr/>
          <p:nvPr/>
        </p:nvSpPr>
        <p:spPr>
          <a:xfrm>
            <a:off x="4919472" y="3008376"/>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07</a:t>
            </a:r>
            <a:endParaRPr lang="en-US" sz="1100" dirty="0"/>
          </a:p>
        </p:txBody>
      </p:sp>
      <p:sp>
        <p:nvSpPr>
          <p:cNvPr id="36" name="Text 34"/>
          <p:cNvSpPr/>
          <p:nvPr/>
        </p:nvSpPr>
        <p:spPr>
          <a:xfrm>
            <a:off x="5394960" y="2935224"/>
            <a:ext cx="3520440"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Gen-AI Usage</a:t>
            </a:r>
            <a:endParaRPr lang="en-US" sz="1200" dirty="0"/>
          </a:p>
        </p:txBody>
      </p:sp>
      <p:sp>
        <p:nvSpPr>
          <p:cNvPr id="37" name="Text 35"/>
          <p:cNvSpPr/>
          <p:nvPr/>
        </p:nvSpPr>
        <p:spPr>
          <a:xfrm>
            <a:off x="5394960" y="3246120"/>
            <a:ext cx="3520440" cy="329184"/>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How AI tools supported this project</a:t>
            </a:r>
            <a:endParaRPr lang="en-US" sz="950" dirty="0"/>
          </a:p>
        </p:txBody>
      </p:sp>
      <p:sp>
        <p:nvSpPr>
          <p:cNvPr id="38" name="Shape 36"/>
          <p:cNvSpPr/>
          <p:nvPr/>
        </p:nvSpPr>
        <p:spPr>
          <a:xfrm>
            <a:off x="4846320" y="3831336"/>
            <a:ext cx="416052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39" name="Shape 37"/>
          <p:cNvSpPr/>
          <p:nvPr/>
        </p:nvSpPr>
        <p:spPr>
          <a:xfrm>
            <a:off x="4919472" y="3995928"/>
            <a:ext cx="384048" cy="384048"/>
          </a:xfrm>
          <a:prstGeom prst="roundRect">
            <a:avLst>
              <a:gd name="adj" fmla="val 19048"/>
            </a:avLst>
          </a:prstGeom>
          <a:solidFill>
            <a:srgbClr val="0D5C63"/>
          </a:solidFill>
          <a:ln w="12700">
            <a:solidFill>
              <a:srgbClr val="0D5C63"/>
            </a:solidFill>
            <a:prstDash val="solid"/>
          </a:ln>
        </p:spPr>
      </p:sp>
      <p:sp>
        <p:nvSpPr>
          <p:cNvPr id="40" name="Text 38"/>
          <p:cNvSpPr/>
          <p:nvPr/>
        </p:nvSpPr>
        <p:spPr>
          <a:xfrm>
            <a:off x="4919472" y="399592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08</a:t>
            </a:r>
            <a:endParaRPr lang="en-US" sz="1100" dirty="0"/>
          </a:p>
        </p:txBody>
      </p:sp>
      <p:sp>
        <p:nvSpPr>
          <p:cNvPr id="41" name="Text 39"/>
          <p:cNvSpPr/>
          <p:nvPr/>
        </p:nvSpPr>
        <p:spPr>
          <a:xfrm>
            <a:off x="5394960" y="3922776"/>
            <a:ext cx="3520440"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Appendix</a:t>
            </a:r>
            <a:endParaRPr lang="en-US" sz="1200" dirty="0"/>
          </a:p>
        </p:txBody>
      </p:sp>
      <p:sp>
        <p:nvSpPr>
          <p:cNvPr id="42" name="Text 40"/>
          <p:cNvSpPr/>
          <p:nvPr/>
        </p:nvSpPr>
        <p:spPr>
          <a:xfrm>
            <a:off x="5394960" y="4233672"/>
            <a:ext cx="3520440" cy="329184"/>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Code, data, and supporting materials</a:t>
            </a:r>
            <a:endParaRPr lang="en-US" sz="950" dirty="0"/>
          </a:p>
        </p:txBody>
      </p:sp>
      <p:sp>
        <p:nvSpPr>
          <p:cNvPr id="43" name="Shape 41"/>
          <p:cNvSpPr/>
          <p:nvPr/>
        </p:nvSpPr>
        <p:spPr>
          <a:xfrm>
            <a:off x="411480" y="4800600"/>
            <a:ext cx="8321040" cy="0"/>
          </a:xfrm>
          <a:prstGeom prst="line">
            <a:avLst/>
          </a:prstGeom>
          <a:noFill/>
          <a:ln w="12700">
            <a:solidFill>
              <a:srgbClr val="0D9488"/>
            </a:solidFill>
            <a:prstDash val="solid"/>
          </a:ln>
        </p:spPr>
      </p:sp>
      <p:sp>
        <p:nvSpPr>
          <p:cNvPr id="44" name="Text 42"/>
          <p:cNvSpPr/>
          <p:nvPr/>
        </p:nvSpPr>
        <p:spPr>
          <a:xfrm>
            <a:off x="411480" y="4846320"/>
            <a:ext cx="8321040" cy="20116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Akshara Miriyala  |  MS Business Analytics  |  University of Cincinnati  |  BANA 7099 Capstone</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15179"/>
    </mc:Choice>
    <mc:Fallback xmlns="">
      <p:transition spd="slow" advTm="1517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A"/>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0D5C63"/>
                </a:solidFill>
                <a:latin typeface="Cambria" pitchFamily="34" charset="0"/>
                <a:ea typeface="Cambria" pitchFamily="34" charset="-122"/>
                <a:cs typeface="Cambria" pitchFamily="34" charset="-120"/>
              </a:rPr>
              <a:t>Business Problem</a:t>
            </a:r>
            <a:endParaRPr lang="en-US" sz="2800" dirty="0"/>
          </a:p>
        </p:txBody>
      </p:sp>
      <p:sp>
        <p:nvSpPr>
          <p:cNvPr id="3" name="Shape 1"/>
          <p:cNvSpPr/>
          <p:nvPr/>
        </p:nvSpPr>
        <p:spPr>
          <a:xfrm>
            <a:off x="411480" y="868680"/>
            <a:ext cx="2926080" cy="3749040"/>
          </a:xfrm>
          <a:prstGeom prst="roundRect">
            <a:avLst>
              <a:gd name="adj" fmla="val 4688"/>
            </a:avLst>
          </a:prstGeom>
          <a:solidFill>
            <a:srgbClr val="0D5C63"/>
          </a:solidFill>
          <a:ln/>
          <a:effectLst>
            <a:outerShdw blurRad="101600" dist="38100" dir="2700000" algn="bl" rotWithShape="0">
              <a:srgbClr val="000000">
                <a:alpha val="12000"/>
              </a:srgbClr>
            </a:outerShdw>
          </a:effectLst>
        </p:spPr>
      </p:sp>
      <p:sp>
        <p:nvSpPr>
          <p:cNvPr id="4" name="Text 2"/>
          <p:cNvSpPr/>
          <p:nvPr/>
        </p:nvSpPr>
        <p:spPr>
          <a:xfrm>
            <a:off x="411480" y="1097280"/>
            <a:ext cx="2926080" cy="914400"/>
          </a:xfrm>
          <a:prstGeom prst="rect">
            <a:avLst/>
          </a:prstGeom>
          <a:noFill/>
          <a:ln/>
        </p:spPr>
        <p:txBody>
          <a:bodyPr wrap="square" lIns="0" tIns="0" rIns="0" bIns="0" rtlCol="0" anchor="ctr"/>
          <a:lstStyle/>
          <a:p>
            <a:pPr marL="0" indent="0" algn="ctr">
              <a:buNone/>
            </a:pPr>
            <a:r>
              <a:rPr lang="en-US" sz="4200" b="1" dirty="0">
                <a:solidFill>
                  <a:srgbClr val="E0A800"/>
                </a:solidFill>
                <a:latin typeface="Cambria" pitchFamily="34" charset="0"/>
                <a:ea typeface="Cambria" pitchFamily="34" charset="-122"/>
                <a:cs typeface="Cambria" pitchFamily="34" charset="-120"/>
              </a:rPr>
              <a:t>$26B+</a:t>
            </a:r>
            <a:endParaRPr lang="en-US" sz="4200" dirty="0"/>
          </a:p>
        </p:txBody>
      </p:sp>
      <p:sp>
        <p:nvSpPr>
          <p:cNvPr id="5" name="Text 3"/>
          <p:cNvSpPr/>
          <p:nvPr/>
        </p:nvSpPr>
        <p:spPr>
          <a:xfrm>
            <a:off x="502920" y="2011680"/>
            <a:ext cx="2743200" cy="777240"/>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Annual US Cost of</a:t>
            </a:r>
            <a:endParaRPr lang="en-US" sz="1200" dirty="0"/>
          </a:p>
          <a:p>
            <a:pPr marL="0" indent="0" algn="ctr">
              <a:buNone/>
            </a:pPr>
            <a:r>
              <a:rPr lang="en-US" sz="1200" dirty="0">
                <a:solidFill>
                  <a:srgbClr val="FFFFFF"/>
                </a:solidFill>
                <a:latin typeface="Arial" pitchFamily="34" charset="0"/>
                <a:ea typeface="Arial" pitchFamily="34" charset="-122"/>
                <a:cs typeface="Arial" pitchFamily="34" charset="-120"/>
              </a:rPr>
              <a:t>Preventable Hospital</a:t>
            </a:r>
            <a:endParaRPr lang="en-US" sz="1200" dirty="0"/>
          </a:p>
          <a:p>
            <a:pPr marL="0" indent="0" algn="ctr">
              <a:buNone/>
            </a:pPr>
            <a:r>
              <a:rPr lang="en-US" sz="1200" dirty="0">
                <a:solidFill>
                  <a:srgbClr val="FFFFFF"/>
                </a:solidFill>
                <a:latin typeface="Arial" pitchFamily="34" charset="0"/>
                <a:ea typeface="Arial" pitchFamily="34" charset="-122"/>
                <a:cs typeface="Arial" pitchFamily="34" charset="-120"/>
              </a:rPr>
              <a:t>Readmissions</a:t>
            </a:r>
            <a:endParaRPr lang="en-US" sz="1200" dirty="0"/>
          </a:p>
        </p:txBody>
      </p:sp>
      <p:sp>
        <p:nvSpPr>
          <p:cNvPr id="6" name="Shape 4"/>
          <p:cNvSpPr/>
          <p:nvPr/>
        </p:nvSpPr>
        <p:spPr>
          <a:xfrm>
            <a:off x="685800" y="2834640"/>
            <a:ext cx="2377440" cy="0"/>
          </a:xfrm>
          <a:prstGeom prst="line">
            <a:avLst/>
          </a:prstGeom>
          <a:noFill/>
          <a:ln w="12700">
            <a:solidFill>
              <a:srgbClr val="E0A800"/>
            </a:solidFill>
            <a:prstDash val="solid"/>
          </a:ln>
        </p:spPr>
      </p:sp>
      <p:sp>
        <p:nvSpPr>
          <p:cNvPr id="7" name="Text 5"/>
          <p:cNvSpPr/>
          <p:nvPr/>
        </p:nvSpPr>
        <p:spPr>
          <a:xfrm>
            <a:off x="411480" y="2926080"/>
            <a:ext cx="2926080" cy="640080"/>
          </a:xfrm>
          <a:prstGeom prst="rect">
            <a:avLst/>
          </a:prstGeom>
          <a:noFill/>
          <a:ln/>
        </p:spPr>
        <p:txBody>
          <a:bodyPr wrap="square" lIns="0" tIns="0" rIns="0" bIns="0" rtlCol="0" anchor="ctr"/>
          <a:lstStyle/>
          <a:p>
            <a:pPr marL="0" indent="0" algn="ctr">
              <a:buNone/>
            </a:pPr>
            <a:r>
              <a:rPr lang="en-US" sz="3200" b="1" dirty="0">
                <a:solidFill>
                  <a:srgbClr val="E0A800"/>
                </a:solidFill>
                <a:latin typeface="Cambria" pitchFamily="34" charset="0"/>
                <a:ea typeface="Cambria" pitchFamily="34" charset="-122"/>
                <a:cs typeface="Cambria" pitchFamily="34" charset="-120"/>
              </a:rPr>
              <a:t>20%+</a:t>
            </a:r>
            <a:endParaRPr lang="en-US" sz="3200" dirty="0"/>
          </a:p>
        </p:txBody>
      </p:sp>
      <p:sp>
        <p:nvSpPr>
          <p:cNvPr id="8" name="Text 6"/>
          <p:cNvSpPr/>
          <p:nvPr/>
        </p:nvSpPr>
        <p:spPr>
          <a:xfrm>
            <a:off x="502920" y="3566160"/>
            <a:ext cx="2743200" cy="77724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30-day readmission rate</a:t>
            </a:r>
            <a:endParaRPr lang="en-US" sz="1100" dirty="0"/>
          </a:p>
          <a:p>
            <a:pPr marL="0" indent="0" algn="ctr">
              <a:buNone/>
            </a:pPr>
            <a:r>
              <a:rPr lang="en-US" sz="1100" dirty="0">
                <a:solidFill>
                  <a:srgbClr val="FFFFFF"/>
                </a:solidFill>
                <a:latin typeface="Arial" pitchFamily="34" charset="0"/>
                <a:ea typeface="Arial" pitchFamily="34" charset="-122"/>
                <a:cs typeface="Arial" pitchFamily="34" charset="-120"/>
              </a:rPr>
              <a:t>for diabetic patients —</a:t>
            </a:r>
            <a:endParaRPr lang="en-US" sz="1100" dirty="0"/>
          </a:p>
          <a:p>
            <a:pPr marL="0" indent="0" algn="ctr">
              <a:buNone/>
            </a:pPr>
            <a:r>
              <a:rPr lang="en-US" sz="1100" dirty="0">
                <a:solidFill>
                  <a:srgbClr val="FFFFFF"/>
                </a:solidFill>
                <a:latin typeface="Arial" pitchFamily="34" charset="0"/>
                <a:ea typeface="Arial" pitchFamily="34" charset="-122"/>
                <a:cs typeface="Arial" pitchFamily="34" charset="-120"/>
              </a:rPr>
              <a:t>highest of any chronic condition</a:t>
            </a:r>
            <a:endParaRPr lang="en-US" sz="1100" dirty="0"/>
          </a:p>
        </p:txBody>
      </p:sp>
      <p:sp>
        <p:nvSpPr>
          <p:cNvPr id="9" name="Shape 7"/>
          <p:cNvSpPr/>
          <p:nvPr/>
        </p:nvSpPr>
        <p:spPr>
          <a:xfrm>
            <a:off x="3566160" y="868680"/>
            <a:ext cx="5166360" cy="1115568"/>
          </a:xfrm>
          <a:prstGeom prst="roundRect">
            <a:avLst>
              <a:gd name="adj" fmla="val 8197"/>
            </a:avLst>
          </a:prstGeom>
          <a:solidFill>
            <a:srgbClr val="FFFFFF"/>
          </a:solidFill>
          <a:ln/>
          <a:effectLst>
            <a:outerShdw blurRad="101600" dist="38100" dir="2700000" algn="bl" rotWithShape="0">
              <a:srgbClr val="000000">
                <a:alpha val="12000"/>
              </a:srgbClr>
            </a:outerShdw>
          </a:effectLst>
        </p:spPr>
      </p:sp>
      <p:sp>
        <p:nvSpPr>
          <p:cNvPr id="10" name="Text 8"/>
          <p:cNvSpPr/>
          <p:nvPr/>
        </p:nvSpPr>
        <p:spPr>
          <a:xfrm>
            <a:off x="3794760" y="960120"/>
            <a:ext cx="4754880" cy="274320"/>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CMS Financial Penalties</a:t>
            </a:r>
            <a:endParaRPr lang="en-US" sz="1200" dirty="0"/>
          </a:p>
        </p:txBody>
      </p:sp>
      <p:sp>
        <p:nvSpPr>
          <p:cNvPr id="11" name="Text 9"/>
          <p:cNvSpPr/>
          <p:nvPr/>
        </p:nvSpPr>
        <p:spPr>
          <a:xfrm>
            <a:off x="3794760" y="1252728"/>
            <a:ext cx="4754880" cy="621792"/>
          </a:xfrm>
          <a:prstGeom prst="rect">
            <a:avLst/>
          </a:prstGeom>
          <a:noFill/>
          <a:ln/>
        </p:spPr>
        <p:txBody>
          <a:bodyPr wrap="square" lIns="0" tIns="0" rIns="0" bIns="0" rtlCol="0" anchor="ctr"/>
          <a:lstStyle/>
          <a:p>
            <a:pPr marL="0" indent="0">
              <a:buNone/>
            </a:pPr>
            <a:r>
              <a:rPr lang="en-US" sz="1050" dirty="0">
                <a:solidFill>
                  <a:srgbClr val="0D2B2E"/>
                </a:solidFill>
                <a:latin typeface="Arial" pitchFamily="34" charset="0"/>
                <a:ea typeface="Arial" pitchFamily="34" charset="-122"/>
                <a:cs typeface="Arial" pitchFamily="34" charset="-120"/>
              </a:rPr>
              <a:t>Hospitals are penalized by Medicare for excess readmissions — reducing reimbursements directly.</a:t>
            </a:r>
            <a:endParaRPr lang="en-US" sz="1050" dirty="0"/>
          </a:p>
        </p:txBody>
      </p:sp>
      <p:sp>
        <p:nvSpPr>
          <p:cNvPr id="12" name="Shape 10"/>
          <p:cNvSpPr/>
          <p:nvPr/>
        </p:nvSpPr>
        <p:spPr>
          <a:xfrm>
            <a:off x="3566160" y="2130552"/>
            <a:ext cx="5166360" cy="1115568"/>
          </a:xfrm>
          <a:prstGeom prst="roundRect">
            <a:avLst>
              <a:gd name="adj" fmla="val 8197"/>
            </a:avLst>
          </a:prstGeom>
          <a:solidFill>
            <a:srgbClr val="FFFFFF"/>
          </a:solidFill>
          <a:ln/>
          <a:effectLst>
            <a:outerShdw blurRad="101600" dist="38100" dir="2700000" algn="bl" rotWithShape="0">
              <a:srgbClr val="000000">
                <a:alpha val="12000"/>
              </a:srgbClr>
            </a:outerShdw>
          </a:effectLst>
        </p:spPr>
      </p:sp>
      <p:sp>
        <p:nvSpPr>
          <p:cNvPr id="13" name="Text 11"/>
          <p:cNvSpPr/>
          <p:nvPr/>
        </p:nvSpPr>
        <p:spPr>
          <a:xfrm>
            <a:off x="3794760" y="2221992"/>
            <a:ext cx="4754880" cy="274320"/>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Standard Analytics Falls Short</a:t>
            </a:r>
            <a:endParaRPr lang="en-US" sz="1200" dirty="0"/>
          </a:p>
        </p:txBody>
      </p:sp>
      <p:sp>
        <p:nvSpPr>
          <p:cNvPr id="14" name="Text 12"/>
          <p:cNvSpPr/>
          <p:nvPr/>
        </p:nvSpPr>
        <p:spPr>
          <a:xfrm>
            <a:off x="3794760" y="2514600"/>
            <a:ext cx="4754880" cy="621792"/>
          </a:xfrm>
          <a:prstGeom prst="rect">
            <a:avLst/>
          </a:prstGeom>
          <a:noFill/>
          <a:ln/>
        </p:spPr>
        <p:txBody>
          <a:bodyPr wrap="square" lIns="0" tIns="0" rIns="0" bIns="0" rtlCol="0" anchor="ctr"/>
          <a:lstStyle/>
          <a:p>
            <a:pPr marL="0" indent="0">
              <a:buNone/>
            </a:pPr>
            <a:r>
              <a:rPr lang="en-US" sz="1050" dirty="0">
                <a:solidFill>
                  <a:srgbClr val="0D2B2E"/>
                </a:solidFill>
                <a:latin typeface="Arial" pitchFamily="34" charset="0"/>
                <a:ea typeface="Arial" pitchFamily="34" charset="-122"/>
                <a:cs typeface="Arial" pitchFamily="34" charset="-120"/>
              </a:rPr>
              <a:t>Most tools predict readmission AFTER admission. No guidance on what to change before discharge.</a:t>
            </a:r>
            <a:endParaRPr lang="en-US" sz="1050" dirty="0"/>
          </a:p>
        </p:txBody>
      </p:sp>
      <p:sp>
        <p:nvSpPr>
          <p:cNvPr id="15" name="Shape 13"/>
          <p:cNvSpPr/>
          <p:nvPr/>
        </p:nvSpPr>
        <p:spPr>
          <a:xfrm>
            <a:off x="3566160" y="3392424"/>
            <a:ext cx="5166360" cy="1115568"/>
          </a:xfrm>
          <a:prstGeom prst="roundRect">
            <a:avLst>
              <a:gd name="adj" fmla="val 8197"/>
            </a:avLst>
          </a:prstGeom>
          <a:solidFill>
            <a:srgbClr val="0D5C63"/>
          </a:solidFill>
          <a:ln/>
          <a:effectLst>
            <a:outerShdw blurRad="101600" dist="38100" dir="2700000" algn="bl" rotWithShape="0">
              <a:srgbClr val="000000">
                <a:alpha val="12000"/>
              </a:srgbClr>
            </a:outerShdw>
          </a:effectLst>
        </p:spPr>
      </p:sp>
      <p:sp>
        <p:nvSpPr>
          <p:cNvPr id="16" name="Text 14"/>
          <p:cNvSpPr/>
          <p:nvPr/>
        </p:nvSpPr>
        <p:spPr>
          <a:xfrm>
            <a:off x="3794760" y="3483864"/>
            <a:ext cx="4754880" cy="274320"/>
          </a:xfrm>
          <a:prstGeom prst="rect">
            <a:avLst/>
          </a:prstGeom>
          <a:noFill/>
          <a:ln/>
        </p:spPr>
        <p:txBody>
          <a:bodyPr wrap="square" lIns="0" tIns="0" rIns="0" bIns="0" rtlCol="0" anchor="ctr"/>
          <a:lstStyle/>
          <a:p>
            <a:pPr marL="0" indent="0">
              <a:buNone/>
            </a:pPr>
            <a:r>
              <a:rPr lang="en-US" sz="1200" b="1" dirty="0">
                <a:solidFill>
                  <a:srgbClr val="E0A800"/>
                </a:solidFill>
                <a:latin typeface="Arial" pitchFamily="34" charset="0"/>
                <a:ea typeface="Arial" pitchFamily="34" charset="-122"/>
                <a:cs typeface="Arial" pitchFamily="34" charset="-120"/>
              </a:rPr>
              <a:t>Core Research Question</a:t>
            </a:r>
            <a:endParaRPr lang="en-US" sz="1200" dirty="0"/>
          </a:p>
        </p:txBody>
      </p:sp>
      <p:sp>
        <p:nvSpPr>
          <p:cNvPr id="17" name="Text 15"/>
          <p:cNvSpPr/>
          <p:nvPr/>
        </p:nvSpPr>
        <p:spPr>
          <a:xfrm>
            <a:off x="3794760" y="3776472"/>
            <a:ext cx="4754880" cy="621792"/>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Which specific clinical decisions at discharge most reduce a diabetic patient's risk of returning within 30 days?</a:t>
            </a:r>
            <a:endParaRPr lang="en-US" sz="1050" dirty="0"/>
          </a:p>
        </p:txBody>
      </p:sp>
      <p:sp>
        <p:nvSpPr>
          <p:cNvPr id="18" name="Shape 16"/>
          <p:cNvSpPr/>
          <p:nvPr/>
        </p:nvSpPr>
        <p:spPr>
          <a:xfrm>
            <a:off x="411480" y="4800600"/>
            <a:ext cx="8321040" cy="0"/>
          </a:xfrm>
          <a:prstGeom prst="line">
            <a:avLst/>
          </a:prstGeom>
          <a:noFill/>
          <a:ln w="12700">
            <a:solidFill>
              <a:srgbClr val="0D9488"/>
            </a:solidFill>
            <a:prstDash val="solid"/>
          </a:ln>
        </p:spPr>
      </p:sp>
      <p:sp>
        <p:nvSpPr>
          <p:cNvPr id="19" name="Text 17"/>
          <p:cNvSpPr/>
          <p:nvPr/>
        </p:nvSpPr>
        <p:spPr>
          <a:xfrm>
            <a:off x="411480" y="4846320"/>
            <a:ext cx="8321040" cy="20116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Akshara Miriyala  |  MS Business Analytics  |  University of Cincinnati  |  BANA 7099 Capstone</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69399"/>
    </mc:Choice>
    <mc:Fallback xmlns="">
      <p:transition spd="slow" advTm="6939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AFA"/>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0D5C63"/>
                </a:solidFill>
                <a:latin typeface="Cambria" pitchFamily="34" charset="0"/>
                <a:ea typeface="Cambria" pitchFamily="34" charset="-122"/>
                <a:cs typeface="Cambria" pitchFamily="34" charset="-120"/>
              </a:rPr>
              <a:t>Data Description</a:t>
            </a:r>
            <a:endParaRPr lang="en-US" sz="2800" dirty="0"/>
          </a:p>
        </p:txBody>
      </p:sp>
      <p:sp>
        <p:nvSpPr>
          <p:cNvPr id="3" name="Shape 1"/>
          <p:cNvSpPr/>
          <p:nvPr/>
        </p:nvSpPr>
        <p:spPr>
          <a:xfrm>
            <a:off x="411480" y="822960"/>
            <a:ext cx="8321040" cy="640080"/>
          </a:xfrm>
          <a:prstGeom prst="roundRect">
            <a:avLst>
              <a:gd name="adj" fmla="val 14286"/>
            </a:avLst>
          </a:prstGeom>
          <a:solidFill>
            <a:srgbClr val="0D5C63"/>
          </a:solidFill>
          <a:ln/>
          <a:effectLst>
            <a:outerShdw blurRad="101600" dist="38100" dir="2700000" algn="bl" rotWithShape="0">
              <a:srgbClr val="000000">
                <a:alpha val="12000"/>
              </a:srgbClr>
            </a:outerShdw>
          </a:effectLst>
        </p:spPr>
      </p:sp>
      <p:sp>
        <p:nvSpPr>
          <p:cNvPr id="4" name="Text 2"/>
          <p:cNvSpPr/>
          <p:nvPr/>
        </p:nvSpPr>
        <p:spPr>
          <a:xfrm>
            <a:off x="594360" y="822960"/>
            <a:ext cx="8046720" cy="64008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Source: </a:t>
            </a:r>
            <a:r>
              <a:rPr lang="en-US" sz="1100" dirty="0">
                <a:solidFill>
                  <a:srgbClr val="FFFFFF"/>
                </a:solidFill>
                <a:latin typeface="Arial" pitchFamily="34" charset="0"/>
                <a:ea typeface="Arial" pitchFamily="34" charset="-122"/>
                <a:cs typeface="Arial" pitchFamily="34" charset="-120"/>
              </a:rPr>
              <a:t>UCI Diabetes 130-US Hospitals Dataset (1999-2008)  |  Strack et al., BioMed Research International, 2014  |  archive.ics.uci.edu/dataset/296</a:t>
            </a:r>
            <a:endParaRPr lang="en-US" sz="1100" dirty="0"/>
          </a:p>
        </p:txBody>
      </p:sp>
      <p:sp>
        <p:nvSpPr>
          <p:cNvPr id="5" name="Shape 3"/>
          <p:cNvSpPr/>
          <p:nvPr/>
        </p:nvSpPr>
        <p:spPr>
          <a:xfrm>
            <a:off x="411480" y="1600200"/>
            <a:ext cx="1508760" cy="1143000"/>
          </a:xfrm>
          <a:prstGeom prst="roundRect">
            <a:avLst>
              <a:gd name="adj" fmla="val 9600"/>
            </a:avLst>
          </a:prstGeom>
          <a:solidFill>
            <a:srgbClr val="CCEDE9"/>
          </a:solidFill>
          <a:ln/>
          <a:effectLst>
            <a:outerShdw blurRad="101600" dist="38100" dir="2700000" algn="bl" rotWithShape="0">
              <a:srgbClr val="000000">
                <a:alpha val="12000"/>
              </a:srgbClr>
            </a:outerShdw>
          </a:effectLst>
        </p:spPr>
      </p:sp>
      <p:sp>
        <p:nvSpPr>
          <p:cNvPr id="6" name="Text 4"/>
          <p:cNvSpPr/>
          <p:nvPr/>
        </p:nvSpPr>
        <p:spPr>
          <a:xfrm>
            <a:off x="457200" y="1709928"/>
            <a:ext cx="1417320" cy="548640"/>
          </a:xfrm>
          <a:prstGeom prst="rect">
            <a:avLst/>
          </a:prstGeom>
          <a:noFill/>
          <a:ln/>
        </p:spPr>
        <p:txBody>
          <a:bodyPr wrap="square" lIns="0" tIns="0" rIns="0" bIns="0" rtlCol="0" anchor="ctr"/>
          <a:lstStyle/>
          <a:p>
            <a:pPr marL="0" indent="0" algn="ctr">
              <a:buNone/>
            </a:pPr>
            <a:r>
              <a:rPr lang="en-US" sz="3200" b="1" dirty="0">
                <a:solidFill>
                  <a:srgbClr val="0D5C63"/>
                </a:solidFill>
                <a:latin typeface="Cambria" pitchFamily="34" charset="0"/>
                <a:ea typeface="Cambria" pitchFamily="34" charset="-122"/>
                <a:cs typeface="Cambria" pitchFamily="34" charset="-120"/>
              </a:rPr>
              <a:t>101,766</a:t>
            </a:r>
            <a:endParaRPr lang="en-US" sz="3200" dirty="0"/>
          </a:p>
        </p:txBody>
      </p:sp>
      <p:sp>
        <p:nvSpPr>
          <p:cNvPr id="7" name="Text 5"/>
          <p:cNvSpPr/>
          <p:nvPr/>
        </p:nvSpPr>
        <p:spPr>
          <a:xfrm>
            <a:off x="457200" y="2194560"/>
            <a:ext cx="1417320" cy="320040"/>
          </a:xfrm>
          <a:prstGeom prst="rect">
            <a:avLst/>
          </a:prstGeom>
          <a:noFill/>
          <a:ln/>
        </p:spPr>
        <p:txBody>
          <a:bodyPr wrap="square" lIns="0" tIns="0" rIns="0" bIns="0" rtlCol="0" anchor="ctr"/>
          <a:lstStyle/>
          <a:p>
            <a:pPr marL="0" indent="0" algn="ctr">
              <a:buNone/>
            </a:pPr>
            <a:r>
              <a:rPr lang="en-US" sz="1100" b="1" dirty="0">
                <a:solidFill>
                  <a:srgbClr val="0D2B2E"/>
                </a:solidFill>
                <a:latin typeface="Arial" pitchFamily="34" charset="0"/>
                <a:ea typeface="Arial" pitchFamily="34" charset="-122"/>
                <a:cs typeface="Arial" pitchFamily="34" charset="-120"/>
              </a:rPr>
              <a:t>Raw Encounters</a:t>
            </a:r>
            <a:endParaRPr lang="en-US" sz="1100" dirty="0"/>
          </a:p>
        </p:txBody>
      </p:sp>
      <p:sp>
        <p:nvSpPr>
          <p:cNvPr id="8" name="Shape 6"/>
          <p:cNvSpPr/>
          <p:nvPr/>
        </p:nvSpPr>
        <p:spPr>
          <a:xfrm>
            <a:off x="2103120" y="1600200"/>
            <a:ext cx="1508760" cy="1143000"/>
          </a:xfrm>
          <a:prstGeom prst="roundRect">
            <a:avLst>
              <a:gd name="adj" fmla="val 9600"/>
            </a:avLst>
          </a:prstGeom>
          <a:solidFill>
            <a:srgbClr val="CCEDE9"/>
          </a:solidFill>
          <a:ln/>
          <a:effectLst>
            <a:outerShdw blurRad="101600" dist="38100" dir="2700000" algn="bl" rotWithShape="0">
              <a:srgbClr val="000000">
                <a:alpha val="12000"/>
              </a:srgbClr>
            </a:outerShdw>
          </a:effectLst>
        </p:spPr>
      </p:sp>
      <p:sp>
        <p:nvSpPr>
          <p:cNvPr id="9" name="Text 7"/>
          <p:cNvSpPr/>
          <p:nvPr/>
        </p:nvSpPr>
        <p:spPr>
          <a:xfrm>
            <a:off x="2148840" y="1709928"/>
            <a:ext cx="1417320" cy="548640"/>
          </a:xfrm>
          <a:prstGeom prst="rect">
            <a:avLst/>
          </a:prstGeom>
          <a:noFill/>
          <a:ln/>
        </p:spPr>
        <p:txBody>
          <a:bodyPr wrap="square" lIns="0" tIns="0" rIns="0" bIns="0" rtlCol="0" anchor="ctr"/>
          <a:lstStyle/>
          <a:p>
            <a:pPr marL="0" indent="0" algn="ctr">
              <a:buNone/>
            </a:pPr>
            <a:r>
              <a:rPr lang="en-US" sz="3200" b="1" dirty="0">
                <a:solidFill>
                  <a:srgbClr val="0D5C63"/>
                </a:solidFill>
                <a:latin typeface="Cambria" pitchFamily="34" charset="0"/>
                <a:ea typeface="Cambria" pitchFamily="34" charset="-122"/>
                <a:cs typeface="Cambria" pitchFamily="34" charset="-120"/>
              </a:rPr>
              <a:t>71,515</a:t>
            </a:r>
            <a:endParaRPr lang="en-US" sz="3200" dirty="0"/>
          </a:p>
        </p:txBody>
      </p:sp>
      <p:sp>
        <p:nvSpPr>
          <p:cNvPr id="10" name="Text 8"/>
          <p:cNvSpPr/>
          <p:nvPr/>
        </p:nvSpPr>
        <p:spPr>
          <a:xfrm>
            <a:off x="2148840" y="2194560"/>
            <a:ext cx="1417320" cy="320040"/>
          </a:xfrm>
          <a:prstGeom prst="rect">
            <a:avLst/>
          </a:prstGeom>
          <a:noFill/>
          <a:ln/>
        </p:spPr>
        <p:txBody>
          <a:bodyPr wrap="square" lIns="0" tIns="0" rIns="0" bIns="0" rtlCol="0" anchor="ctr"/>
          <a:lstStyle/>
          <a:p>
            <a:pPr marL="0" indent="0" algn="ctr">
              <a:buNone/>
            </a:pPr>
            <a:r>
              <a:rPr lang="en-US" sz="1100" b="1" dirty="0">
                <a:solidFill>
                  <a:srgbClr val="0D2B2E"/>
                </a:solidFill>
                <a:latin typeface="Arial" pitchFamily="34" charset="0"/>
                <a:ea typeface="Arial" pitchFamily="34" charset="-122"/>
                <a:cs typeface="Arial" pitchFamily="34" charset="-120"/>
              </a:rPr>
              <a:t>Unique Patients</a:t>
            </a:r>
            <a:endParaRPr lang="en-US" sz="1100" dirty="0"/>
          </a:p>
          <a:p>
            <a:pPr marL="0" indent="0" algn="ctr">
              <a:buNone/>
            </a:pPr>
            <a:r>
              <a:rPr lang="en-US" sz="1100" b="1" dirty="0">
                <a:solidFill>
                  <a:srgbClr val="0D2B2E"/>
                </a:solidFill>
                <a:latin typeface="Arial" pitchFamily="34" charset="0"/>
                <a:ea typeface="Arial" pitchFamily="34" charset="-122"/>
                <a:cs typeface="Arial" pitchFamily="34" charset="-120"/>
              </a:rPr>
              <a:t>(after dedup)</a:t>
            </a:r>
            <a:endParaRPr lang="en-US" sz="1100" dirty="0"/>
          </a:p>
        </p:txBody>
      </p:sp>
      <p:sp>
        <p:nvSpPr>
          <p:cNvPr id="11" name="Shape 9"/>
          <p:cNvSpPr/>
          <p:nvPr/>
        </p:nvSpPr>
        <p:spPr>
          <a:xfrm>
            <a:off x="3794760" y="1600200"/>
            <a:ext cx="1508760" cy="1143000"/>
          </a:xfrm>
          <a:prstGeom prst="roundRect">
            <a:avLst>
              <a:gd name="adj" fmla="val 9600"/>
            </a:avLst>
          </a:prstGeom>
          <a:solidFill>
            <a:srgbClr val="CCEDE9"/>
          </a:solidFill>
          <a:ln/>
          <a:effectLst>
            <a:outerShdw blurRad="101600" dist="38100" dir="2700000" algn="bl" rotWithShape="0">
              <a:srgbClr val="000000">
                <a:alpha val="12000"/>
              </a:srgbClr>
            </a:outerShdw>
          </a:effectLst>
        </p:spPr>
      </p:sp>
      <p:sp>
        <p:nvSpPr>
          <p:cNvPr id="12" name="Text 10"/>
          <p:cNvSpPr/>
          <p:nvPr/>
        </p:nvSpPr>
        <p:spPr>
          <a:xfrm>
            <a:off x="3840480" y="1709928"/>
            <a:ext cx="1417320" cy="548640"/>
          </a:xfrm>
          <a:prstGeom prst="rect">
            <a:avLst/>
          </a:prstGeom>
          <a:noFill/>
          <a:ln/>
        </p:spPr>
        <p:txBody>
          <a:bodyPr wrap="square" lIns="0" tIns="0" rIns="0" bIns="0" rtlCol="0" anchor="ctr"/>
          <a:lstStyle/>
          <a:p>
            <a:pPr marL="0" indent="0" algn="ctr">
              <a:buNone/>
            </a:pPr>
            <a:r>
              <a:rPr lang="en-US" sz="3200" b="1" dirty="0">
                <a:solidFill>
                  <a:srgbClr val="0D5C63"/>
                </a:solidFill>
                <a:latin typeface="Cambria" pitchFamily="34" charset="0"/>
                <a:ea typeface="Cambria" pitchFamily="34" charset="-122"/>
                <a:cs typeface="Cambria" pitchFamily="34" charset="-120"/>
              </a:rPr>
              <a:t>50</a:t>
            </a:r>
            <a:endParaRPr lang="en-US" sz="3200" dirty="0"/>
          </a:p>
        </p:txBody>
      </p:sp>
      <p:sp>
        <p:nvSpPr>
          <p:cNvPr id="13" name="Text 11"/>
          <p:cNvSpPr/>
          <p:nvPr/>
        </p:nvSpPr>
        <p:spPr>
          <a:xfrm>
            <a:off x="3840480" y="2194560"/>
            <a:ext cx="1417320" cy="320040"/>
          </a:xfrm>
          <a:prstGeom prst="rect">
            <a:avLst/>
          </a:prstGeom>
          <a:noFill/>
          <a:ln/>
        </p:spPr>
        <p:txBody>
          <a:bodyPr wrap="square" lIns="0" tIns="0" rIns="0" bIns="0" rtlCol="0" anchor="ctr"/>
          <a:lstStyle/>
          <a:p>
            <a:pPr marL="0" indent="0" algn="ctr">
              <a:buNone/>
            </a:pPr>
            <a:r>
              <a:rPr lang="en-US" sz="1100" b="1" dirty="0">
                <a:solidFill>
                  <a:srgbClr val="0D2B2E"/>
                </a:solidFill>
                <a:latin typeface="Arial" pitchFamily="34" charset="0"/>
                <a:ea typeface="Arial" pitchFamily="34" charset="-122"/>
                <a:cs typeface="Arial" pitchFamily="34" charset="-120"/>
              </a:rPr>
              <a:t>Original</a:t>
            </a:r>
            <a:endParaRPr lang="en-US" sz="1100" dirty="0"/>
          </a:p>
          <a:p>
            <a:pPr marL="0" indent="0" algn="ctr">
              <a:buNone/>
            </a:pPr>
            <a:r>
              <a:rPr lang="en-US" sz="1100" b="1" dirty="0">
                <a:solidFill>
                  <a:srgbClr val="0D2B2E"/>
                </a:solidFill>
                <a:latin typeface="Arial" pitchFamily="34" charset="0"/>
                <a:ea typeface="Arial" pitchFamily="34" charset="-122"/>
                <a:cs typeface="Arial" pitchFamily="34" charset="-120"/>
              </a:rPr>
              <a:t>Features</a:t>
            </a:r>
            <a:endParaRPr lang="en-US" sz="1100" dirty="0"/>
          </a:p>
        </p:txBody>
      </p:sp>
      <p:sp>
        <p:nvSpPr>
          <p:cNvPr id="14" name="Shape 12"/>
          <p:cNvSpPr/>
          <p:nvPr/>
        </p:nvSpPr>
        <p:spPr>
          <a:xfrm>
            <a:off x="5486400" y="1600200"/>
            <a:ext cx="1508760" cy="1143000"/>
          </a:xfrm>
          <a:prstGeom prst="roundRect">
            <a:avLst>
              <a:gd name="adj" fmla="val 9600"/>
            </a:avLst>
          </a:prstGeom>
          <a:solidFill>
            <a:srgbClr val="CCEDE9"/>
          </a:solidFill>
          <a:ln/>
          <a:effectLst>
            <a:outerShdw blurRad="101600" dist="38100" dir="2700000" algn="bl" rotWithShape="0">
              <a:srgbClr val="000000">
                <a:alpha val="12000"/>
              </a:srgbClr>
            </a:outerShdw>
          </a:effectLst>
        </p:spPr>
      </p:sp>
      <p:sp>
        <p:nvSpPr>
          <p:cNvPr id="15" name="Text 13"/>
          <p:cNvSpPr/>
          <p:nvPr/>
        </p:nvSpPr>
        <p:spPr>
          <a:xfrm>
            <a:off x="5532120" y="1709928"/>
            <a:ext cx="1417320" cy="548640"/>
          </a:xfrm>
          <a:prstGeom prst="rect">
            <a:avLst/>
          </a:prstGeom>
          <a:noFill/>
          <a:ln/>
        </p:spPr>
        <p:txBody>
          <a:bodyPr wrap="square" lIns="0" tIns="0" rIns="0" bIns="0" rtlCol="0" anchor="ctr"/>
          <a:lstStyle/>
          <a:p>
            <a:pPr marL="0" indent="0" algn="ctr">
              <a:buNone/>
            </a:pPr>
            <a:r>
              <a:rPr lang="en-US" sz="3200" b="1" dirty="0">
                <a:solidFill>
                  <a:srgbClr val="0D5C63"/>
                </a:solidFill>
                <a:latin typeface="Cambria" pitchFamily="34" charset="0"/>
                <a:ea typeface="Cambria" pitchFamily="34" charset="-122"/>
                <a:cs typeface="Cambria" pitchFamily="34" charset="-120"/>
              </a:rPr>
              <a:t>44</a:t>
            </a:r>
            <a:endParaRPr lang="en-US" sz="3200" dirty="0"/>
          </a:p>
        </p:txBody>
      </p:sp>
      <p:sp>
        <p:nvSpPr>
          <p:cNvPr id="16" name="Text 14"/>
          <p:cNvSpPr/>
          <p:nvPr/>
        </p:nvSpPr>
        <p:spPr>
          <a:xfrm>
            <a:off x="5532120" y="2194560"/>
            <a:ext cx="1417320" cy="320040"/>
          </a:xfrm>
          <a:prstGeom prst="rect">
            <a:avLst/>
          </a:prstGeom>
          <a:noFill/>
          <a:ln/>
        </p:spPr>
        <p:txBody>
          <a:bodyPr wrap="square" lIns="0" tIns="0" rIns="0" bIns="0" rtlCol="0" anchor="ctr"/>
          <a:lstStyle/>
          <a:p>
            <a:pPr marL="0" indent="0" algn="ctr">
              <a:buNone/>
            </a:pPr>
            <a:r>
              <a:rPr lang="en-US" sz="1100" b="1" dirty="0">
                <a:solidFill>
                  <a:srgbClr val="0D2B2E"/>
                </a:solidFill>
                <a:latin typeface="Arial" pitchFamily="34" charset="0"/>
                <a:ea typeface="Arial" pitchFamily="34" charset="-122"/>
                <a:cs typeface="Arial" pitchFamily="34" charset="-120"/>
              </a:rPr>
              <a:t>Final Features</a:t>
            </a:r>
            <a:endParaRPr lang="en-US" sz="1100" dirty="0"/>
          </a:p>
          <a:p>
            <a:pPr marL="0" indent="0" algn="ctr">
              <a:buNone/>
            </a:pPr>
            <a:r>
              <a:rPr lang="en-US" sz="1100" b="1" dirty="0">
                <a:solidFill>
                  <a:srgbClr val="0D2B2E"/>
                </a:solidFill>
                <a:latin typeface="Arial" pitchFamily="34" charset="0"/>
                <a:ea typeface="Arial" pitchFamily="34" charset="-122"/>
                <a:cs typeface="Arial" pitchFamily="34" charset="-120"/>
              </a:rPr>
              <a:t>Used</a:t>
            </a:r>
            <a:endParaRPr lang="en-US" sz="1100" dirty="0"/>
          </a:p>
        </p:txBody>
      </p:sp>
      <p:sp>
        <p:nvSpPr>
          <p:cNvPr id="17" name="Shape 15"/>
          <p:cNvSpPr/>
          <p:nvPr/>
        </p:nvSpPr>
        <p:spPr>
          <a:xfrm>
            <a:off x="7178040" y="1600200"/>
            <a:ext cx="1508760" cy="1143000"/>
          </a:xfrm>
          <a:prstGeom prst="roundRect">
            <a:avLst>
              <a:gd name="adj" fmla="val 9600"/>
            </a:avLst>
          </a:prstGeom>
          <a:solidFill>
            <a:srgbClr val="CCEDE9"/>
          </a:solidFill>
          <a:ln/>
          <a:effectLst>
            <a:outerShdw blurRad="101600" dist="38100" dir="2700000" algn="bl" rotWithShape="0">
              <a:srgbClr val="000000">
                <a:alpha val="12000"/>
              </a:srgbClr>
            </a:outerShdw>
          </a:effectLst>
        </p:spPr>
      </p:sp>
      <p:sp>
        <p:nvSpPr>
          <p:cNvPr id="18" name="Text 16"/>
          <p:cNvSpPr/>
          <p:nvPr/>
        </p:nvSpPr>
        <p:spPr>
          <a:xfrm>
            <a:off x="7223760" y="1709928"/>
            <a:ext cx="1417320" cy="548640"/>
          </a:xfrm>
          <a:prstGeom prst="rect">
            <a:avLst/>
          </a:prstGeom>
          <a:noFill/>
          <a:ln/>
        </p:spPr>
        <p:txBody>
          <a:bodyPr wrap="square" lIns="0" tIns="0" rIns="0" bIns="0" rtlCol="0" anchor="ctr"/>
          <a:lstStyle/>
          <a:p>
            <a:pPr marL="0" indent="0" algn="ctr">
              <a:buNone/>
            </a:pPr>
            <a:r>
              <a:rPr lang="en-US" sz="3200" b="1" dirty="0">
                <a:solidFill>
                  <a:srgbClr val="0D5C63"/>
                </a:solidFill>
                <a:latin typeface="Cambria" pitchFamily="34" charset="0"/>
                <a:ea typeface="Cambria" pitchFamily="34" charset="-122"/>
                <a:cs typeface="Cambria" pitchFamily="34" charset="-120"/>
              </a:rPr>
              <a:t>8.8%</a:t>
            </a:r>
            <a:endParaRPr lang="en-US" sz="3200" dirty="0"/>
          </a:p>
        </p:txBody>
      </p:sp>
      <p:sp>
        <p:nvSpPr>
          <p:cNvPr id="19" name="Text 17"/>
          <p:cNvSpPr/>
          <p:nvPr/>
        </p:nvSpPr>
        <p:spPr>
          <a:xfrm>
            <a:off x="7223760" y="2194560"/>
            <a:ext cx="1417320" cy="320040"/>
          </a:xfrm>
          <a:prstGeom prst="rect">
            <a:avLst/>
          </a:prstGeom>
          <a:noFill/>
          <a:ln/>
        </p:spPr>
        <p:txBody>
          <a:bodyPr wrap="square" lIns="0" tIns="0" rIns="0" bIns="0" rtlCol="0" anchor="ctr"/>
          <a:lstStyle/>
          <a:p>
            <a:pPr marL="0" indent="0" algn="ctr">
              <a:buNone/>
            </a:pPr>
            <a:r>
              <a:rPr lang="en-US" sz="1100" b="1" dirty="0">
                <a:solidFill>
                  <a:srgbClr val="0D2B2E"/>
                </a:solidFill>
                <a:latin typeface="Arial" pitchFamily="34" charset="0"/>
                <a:ea typeface="Arial" pitchFamily="34" charset="-122"/>
                <a:cs typeface="Arial" pitchFamily="34" charset="-120"/>
              </a:rPr>
              <a:t>Readmission</a:t>
            </a:r>
            <a:endParaRPr lang="en-US" sz="1100" dirty="0"/>
          </a:p>
          <a:p>
            <a:pPr marL="0" indent="0" algn="ctr">
              <a:buNone/>
            </a:pPr>
            <a:r>
              <a:rPr lang="en-US" sz="1100" b="1" dirty="0">
                <a:solidFill>
                  <a:srgbClr val="0D2B2E"/>
                </a:solidFill>
                <a:latin typeface="Arial" pitchFamily="34" charset="0"/>
                <a:ea typeface="Arial" pitchFamily="34" charset="-122"/>
                <a:cs typeface="Arial" pitchFamily="34" charset="-120"/>
              </a:rPr>
              <a:t>Rate</a:t>
            </a:r>
            <a:endParaRPr lang="en-US" sz="1100" dirty="0"/>
          </a:p>
        </p:txBody>
      </p:sp>
      <p:sp>
        <p:nvSpPr>
          <p:cNvPr id="20" name="Shape 18"/>
          <p:cNvSpPr/>
          <p:nvPr/>
        </p:nvSpPr>
        <p:spPr>
          <a:xfrm>
            <a:off x="411480" y="2907792"/>
            <a:ext cx="260604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21" name="Text 19"/>
          <p:cNvSpPr/>
          <p:nvPr/>
        </p:nvSpPr>
        <p:spPr>
          <a:xfrm>
            <a:off x="548640" y="2980944"/>
            <a:ext cx="2377440" cy="256032"/>
          </a:xfrm>
          <a:prstGeom prst="rect">
            <a:avLst/>
          </a:prstGeom>
          <a:noFill/>
          <a:ln/>
        </p:spPr>
        <p:txBody>
          <a:bodyPr wrap="square" lIns="0" tIns="0" rIns="0" bIns="0" rtlCol="0" anchor="ctr"/>
          <a:lstStyle/>
          <a:p>
            <a:pPr marL="0" indent="0">
              <a:buNone/>
            </a:pPr>
            <a:r>
              <a:rPr lang="en-US" sz="1100" b="1" dirty="0">
                <a:solidFill>
                  <a:srgbClr val="0D5C63"/>
                </a:solidFill>
                <a:latin typeface="Arial" pitchFamily="34" charset="0"/>
                <a:ea typeface="Arial" pitchFamily="34" charset="-122"/>
                <a:cs typeface="Arial" pitchFamily="34" charset="-120"/>
              </a:rPr>
              <a:t>Demographics</a:t>
            </a:r>
            <a:endParaRPr lang="en-US" sz="1100" dirty="0"/>
          </a:p>
        </p:txBody>
      </p:sp>
      <p:sp>
        <p:nvSpPr>
          <p:cNvPr id="22" name="Text 20"/>
          <p:cNvSpPr/>
          <p:nvPr/>
        </p:nvSpPr>
        <p:spPr>
          <a:xfrm>
            <a:off x="548640" y="3255264"/>
            <a:ext cx="2377440" cy="438912"/>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race, gender, age</a:t>
            </a:r>
            <a:endParaRPr lang="en-US" sz="950" dirty="0"/>
          </a:p>
        </p:txBody>
      </p:sp>
      <p:sp>
        <p:nvSpPr>
          <p:cNvPr id="23" name="Shape 21"/>
          <p:cNvSpPr/>
          <p:nvPr/>
        </p:nvSpPr>
        <p:spPr>
          <a:xfrm>
            <a:off x="3200400" y="2907792"/>
            <a:ext cx="260604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24" name="Text 22"/>
          <p:cNvSpPr/>
          <p:nvPr/>
        </p:nvSpPr>
        <p:spPr>
          <a:xfrm>
            <a:off x="3337560" y="2980944"/>
            <a:ext cx="2377440" cy="256032"/>
          </a:xfrm>
          <a:prstGeom prst="rect">
            <a:avLst/>
          </a:prstGeom>
          <a:noFill/>
          <a:ln/>
        </p:spPr>
        <p:txBody>
          <a:bodyPr wrap="square" lIns="0" tIns="0" rIns="0" bIns="0" rtlCol="0" anchor="ctr"/>
          <a:lstStyle/>
          <a:p>
            <a:pPr marL="0" indent="0">
              <a:buNone/>
            </a:pPr>
            <a:r>
              <a:rPr lang="en-US" sz="1100" b="1" dirty="0">
                <a:solidFill>
                  <a:srgbClr val="0D5C63"/>
                </a:solidFill>
                <a:latin typeface="Arial" pitchFamily="34" charset="0"/>
                <a:ea typeface="Arial" pitchFamily="34" charset="-122"/>
                <a:cs typeface="Arial" pitchFamily="34" charset="-120"/>
              </a:rPr>
              <a:t>Hospital Stay</a:t>
            </a:r>
            <a:endParaRPr lang="en-US" sz="1100" dirty="0"/>
          </a:p>
        </p:txBody>
      </p:sp>
      <p:sp>
        <p:nvSpPr>
          <p:cNvPr id="25" name="Text 23"/>
          <p:cNvSpPr/>
          <p:nvPr/>
        </p:nvSpPr>
        <p:spPr>
          <a:xfrm>
            <a:off x="3337560" y="3255264"/>
            <a:ext cx="2377440" cy="438912"/>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time_in_hospital</a:t>
            </a:r>
            <a:endParaRPr lang="en-US" sz="950" dirty="0"/>
          </a:p>
          <a:p>
            <a:pPr marL="0" indent="0">
              <a:buNone/>
            </a:pPr>
            <a:r>
              <a:rPr lang="en-US" sz="950" dirty="0">
                <a:solidFill>
                  <a:srgbClr val="0D2B2E"/>
                </a:solidFill>
                <a:latin typeface="Arial" pitchFamily="34" charset="0"/>
                <a:ea typeface="Arial" pitchFamily="34" charset="-122"/>
                <a:cs typeface="Arial" pitchFamily="34" charset="-120"/>
              </a:rPr>
              <a:t>num_lab_procedures</a:t>
            </a:r>
            <a:endParaRPr lang="en-US" sz="950" dirty="0"/>
          </a:p>
        </p:txBody>
      </p:sp>
      <p:sp>
        <p:nvSpPr>
          <p:cNvPr id="26" name="Shape 24"/>
          <p:cNvSpPr/>
          <p:nvPr/>
        </p:nvSpPr>
        <p:spPr>
          <a:xfrm>
            <a:off x="5989320" y="2907792"/>
            <a:ext cx="260604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27" name="Text 25"/>
          <p:cNvSpPr/>
          <p:nvPr/>
        </p:nvSpPr>
        <p:spPr>
          <a:xfrm>
            <a:off x="6126480" y="2980944"/>
            <a:ext cx="2377440" cy="256032"/>
          </a:xfrm>
          <a:prstGeom prst="rect">
            <a:avLst/>
          </a:prstGeom>
          <a:noFill/>
          <a:ln/>
        </p:spPr>
        <p:txBody>
          <a:bodyPr wrap="square" lIns="0" tIns="0" rIns="0" bIns="0" rtlCol="0" anchor="ctr"/>
          <a:lstStyle/>
          <a:p>
            <a:pPr marL="0" indent="0">
              <a:buNone/>
            </a:pPr>
            <a:r>
              <a:rPr lang="en-US" sz="1100" b="1" dirty="0">
                <a:solidFill>
                  <a:srgbClr val="0D5C63"/>
                </a:solidFill>
                <a:latin typeface="Arial" pitchFamily="34" charset="0"/>
                <a:ea typeface="Arial" pitchFamily="34" charset="-122"/>
                <a:cs typeface="Arial" pitchFamily="34" charset="-120"/>
              </a:rPr>
              <a:t>Diagnoses</a:t>
            </a:r>
            <a:endParaRPr lang="en-US" sz="1100" dirty="0"/>
          </a:p>
        </p:txBody>
      </p:sp>
      <p:sp>
        <p:nvSpPr>
          <p:cNvPr id="28" name="Text 26"/>
          <p:cNvSpPr/>
          <p:nvPr/>
        </p:nvSpPr>
        <p:spPr>
          <a:xfrm>
            <a:off x="6126480" y="3255264"/>
            <a:ext cx="2377440" cy="438912"/>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diag_1, diag_2, diag_3</a:t>
            </a:r>
            <a:endParaRPr lang="en-US" sz="950" dirty="0"/>
          </a:p>
          <a:p>
            <a:pPr marL="0" indent="0">
              <a:buNone/>
            </a:pPr>
            <a:r>
              <a:rPr lang="en-US" sz="950" dirty="0">
                <a:solidFill>
                  <a:srgbClr val="0D2B2E"/>
                </a:solidFill>
                <a:latin typeface="Arial" pitchFamily="34" charset="0"/>
                <a:ea typeface="Arial" pitchFamily="34" charset="-122"/>
                <a:cs typeface="Arial" pitchFamily="34" charset="-120"/>
              </a:rPr>
              <a:t>number_diagnoses</a:t>
            </a:r>
            <a:endParaRPr lang="en-US" sz="950" dirty="0"/>
          </a:p>
        </p:txBody>
      </p:sp>
      <p:sp>
        <p:nvSpPr>
          <p:cNvPr id="29" name="Shape 27"/>
          <p:cNvSpPr/>
          <p:nvPr/>
        </p:nvSpPr>
        <p:spPr>
          <a:xfrm>
            <a:off x="411480" y="3867912"/>
            <a:ext cx="260604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30" name="Text 28"/>
          <p:cNvSpPr/>
          <p:nvPr/>
        </p:nvSpPr>
        <p:spPr>
          <a:xfrm>
            <a:off x="548640" y="3941064"/>
            <a:ext cx="2377440" cy="256032"/>
          </a:xfrm>
          <a:prstGeom prst="rect">
            <a:avLst/>
          </a:prstGeom>
          <a:noFill/>
          <a:ln/>
        </p:spPr>
        <p:txBody>
          <a:bodyPr wrap="square" lIns="0" tIns="0" rIns="0" bIns="0" rtlCol="0" anchor="ctr"/>
          <a:lstStyle/>
          <a:p>
            <a:pPr marL="0" indent="0">
              <a:buNone/>
            </a:pPr>
            <a:r>
              <a:rPr lang="en-US" sz="1100" b="1" dirty="0">
                <a:solidFill>
                  <a:srgbClr val="0D5C63"/>
                </a:solidFill>
                <a:latin typeface="Arial" pitchFamily="34" charset="0"/>
                <a:ea typeface="Arial" pitchFamily="34" charset="-122"/>
                <a:cs typeface="Arial" pitchFamily="34" charset="-120"/>
              </a:rPr>
              <a:t>Medications</a:t>
            </a:r>
            <a:endParaRPr lang="en-US" sz="1100" dirty="0"/>
          </a:p>
        </p:txBody>
      </p:sp>
      <p:sp>
        <p:nvSpPr>
          <p:cNvPr id="31" name="Text 29"/>
          <p:cNvSpPr/>
          <p:nvPr/>
        </p:nvSpPr>
        <p:spPr>
          <a:xfrm>
            <a:off x="548640" y="4215384"/>
            <a:ext cx="2377440" cy="438912"/>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insulin, metformin</a:t>
            </a:r>
            <a:endParaRPr lang="en-US" sz="950" dirty="0"/>
          </a:p>
          <a:p>
            <a:pPr marL="0" indent="0">
              <a:buNone/>
            </a:pPr>
            <a:r>
              <a:rPr lang="en-US" sz="950" dirty="0">
                <a:solidFill>
                  <a:srgbClr val="0D2B2E"/>
                </a:solidFill>
                <a:latin typeface="Arial" pitchFamily="34" charset="0"/>
                <a:ea typeface="Arial" pitchFamily="34" charset="-122"/>
                <a:cs typeface="Arial" pitchFamily="34" charset="-120"/>
              </a:rPr>
              <a:t>+ 21 others</a:t>
            </a:r>
            <a:endParaRPr lang="en-US" sz="950" dirty="0"/>
          </a:p>
        </p:txBody>
      </p:sp>
      <p:sp>
        <p:nvSpPr>
          <p:cNvPr id="32" name="Shape 30"/>
          <p:cNvSpPr/>
          <p:nvPr/>
        </p:nvSpPr>
        <p:spPr>
          <a:xfrm>
            <a:off x="3200400" y="3867912"/>
            <a:ext cx="260604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33" name="Text 31"/>
          <p:cNvSpPr/>
          <p:nvPr/>
        </p:nvSpPr>
        <p:spPr>
          <a:xfrm>
            <a:off x="3337560" y="3941064"/>
            <a:ext cx="2377440" cy="256032"/>
          </a:xfrm>
          <a:prstGeom prst="rect">
            <a:avLst/>
          </a:prstGeom>
          <a:noFill/>
          <a:ln/>
        </p:spPr>
        <p:txBody>
          <a:bodyPr wrap="square" lIns="0" tIns="0" rIns="0" bIns="0" rtlCol="0" anchor="ctr"/>
          <a:lstStyle/>
          <a:p>
            <a:pPr marL="0" indent="0">
              <a:buNone/>
            </a:pPr>
            <a:r>
              <a:rPr lang="en-US" sz="1100" b="1" dirty="0">
                <a:solidFill>
                  <a:srgbClr val="0D5C63"/>
                </a:solidFill>
                <a:latin typeface="Arial" pitchFamily="34" charset="0"/>
                <a:ea typeface="Arial" pitchFamily="34" charset="-122"/>
                <a:cs typeface="Arial" pitchFamily="34" charset="-120"/>
              </a:rPr>
              <a:t>Lab Results</a:t>
            </a:r>
            <a:endParaRPr lang="en-US" sz="1100" dirty="0"/>
          </a:p>
        </p:txBody>
      </p:sp>
      <p:sp>
        <p:nvSpPr>
          <p:cNvPr id="34" name="Text 32"/>
          <p:cNvSpPr/>
          <p:nvPr/>
        </p:nvSpPr>
        <p:spPr>
          <a:xfrm>
            <a:off x="3337560" y="4215384"/>
            <a:ext cx="2377440" cy="438912"/>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A1Cresult</a:t>
            </a:r>
            <a:endParaRPr lang="en-US" sz="950" dirty="0"/>
          </a:p>
          <a:p>
            <a:pPr marL="0" indent="0">
              <a:buNone/>
            </a:pPr>
            <a:r>
              <a:rPr lang="en-US" sz="950" dirty="0">
                <a:solidFill>
                  <a:srgbClr val="0D2B2E"/>
                </a:solidFill>
                <a:latin typeface="Arial" pitchFamily="34" charset="0"/>
                <a:ea typeface="Arial" pitchFamily="34" charset="-122"/>
                <a:cs typeface="Arial" pitchFamily="34" charset="-120"/>
              </a:rPr>
              <a:t>max_glu_serum</a:t>
            </a:r>
            <a:endParaRPr lang="en-US" sz="950" dirty="0"/>
          </a:p>
        </p:txBody>
      </p:sp>
      <p:sp>
        <p:nvSpPr>
          <p:cNvPr id="35" name="Shape 33"/>
          <p:cNvSpPr/>
          <p:nvPr/>
        </p:nvSpPr>
        <p:spPr>
          <a:xfrm>
            <a:off x="5989320" y="3867912"/>
            <a:ext cx="2606040" cy="841248"/>
          </a:xfrm>
          <a:prstGeom prst="roundRect">
            <a:avLst>
              <a:gd name="adj" fmla="val 10870"/>
            </a:avLst>
          </a:prstGeom>
          <a:solidFill>
            <a:srgbClr val="FFFFFF"/>
          </a:solidFill>
          <a:ln/>
          <a:effectLst>
            <a:outerShdw blurRad="101600" dist="38100" dir="2700000" algn="bl" rotWithShape="0">
              <a:srgbClr val="000000">
                <a:alpha val="12000"/>
              </a:srgbClr>
            </a:outerShdw>
          </a:effectLst>
        </p:spPr>
      </p:sp>
      <p:sp>
        <p:nvSpPr>
          <p:cNvPr id="36" name="Text 34"/>
          <p:cNvSpPr/>
          <p:nvPr/>
        </p:nvSpPr>
        <p:spPr>
          <a:xfrm>
            <a:off x="6126480" y="3941064"/>
            <a:ext cx="2377440" cy="256032"/>
          </a:xfrm>
          <a:prstGeom prst="rect">
            <a:avLst/>
          </a:prstGeom>
          <a:noFill/>
          <a:ln/>
        </p:spPr>
        <p:txBody>
          <a:bodyPr wrap="square" lIns="0" tIns="0" rIns="0" bIns="0" rtlCol="0" anchor="ctr"/>
          <a:lstStyle/>
          <a:p>
            <a:pPr marL="0" indent="0">
              <a:buNone/>
            </a:pPr>
            <a:r>
              <a:rPr lang="en-US" sz="1100" b="1" dirty="0">
                <a:solidFill>
                  <a:srgbClr val="0D5C63"/>
                </a:solidFill>
                <a:latin typeface="Arial" pitchFamily="34" charset="0"/>
                <a:ea typeface="Arial" pitchFamily="34" charset="-122"/>
                <a:cs typeface="Arial" pitchFamily="34" charset="-120"/>
              </a:rPr>
              <a:t>Discharge</a:t>
            </a:r>
            <a:endParaRPr lang="en-US" sz="1100" dirty="0"/>
          </a:p>
        </p:txBody>
      </p:sp>
      <p:sp>
        <p:nvSpPr>
          <p:cNvPr id="37" name="Text 35"/>
          <p:cNvSpPr/>
          <p:nvPr/>
        </p:nvSpPr>
        <p:spPr>
          <a:xfrm>
            <a:off x="6126480" y="4215384"/>
            <a:ext cx="2377440" cy="438912"/>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discharge_disposition</a:t>
            </a:r>
            <a:endParaRPr lang="en-US" sz="950" dirty="0"/>
          </a:p>
          <a:p>
            <a:pPr marL="0" indent="0">
              <a:buNone/>
            </a:pPr>
            <a:r>
              <a:rPr lang="en-US" sz="950" dirty="0">
                <a:solidFill>
                  <a:srgbClr val="0D2B2E"/>
                </a:solidFill>
                <a:latin typeface="Arial" pitchFamily="34" charset="0"/>
                <a:ea typeface="Arial" pitchFamily="34" charset="-122"/>
                <a:cs typeface="Arial" pitchFamily="34" charset="-120"/>
              </a:rPr>
              <a:t>admission_type</a:t>
            </a:r>
            <a:endParaRPr lang="en-US" sz="950" dirty="0"/>
          </a:p>
        </p:txBody>
      </p:sp>
      <p:sp>
        <p:nvSpPr>
          <p:cNvPr id="38" name="Shape 36"/>
          <p:cNvSpPr/>
          <p:nvPr/>
        </p:nvSpPr>
        <p:spPr>
          <a:xfrm>
            <a:off x="411480" y="4800600"/>
            <a:ext cx="8321040" cy="0"/>
          </a:xfrm>
          <a:prstGeom prst="line">
            <a:avLst/>
          </a:prstGeom>
          <a:noFill/>
          <a:ln w="12700">
            <a:solidFill>
              <a:srgbClr val="0D9488"/>
            </a:solidFill>
            <a:prstDash val="solid"/>
          </a:ln>
        </p:spPr>
      </p:sp>
      <p:sp>
        <p:nvSpPr>
          <p:cNvPr id="39" name="Text 37"/>
          <p:cNvSpPr/>
          <p:nvPr/>
        </p:nvSpPr>
        <p:spPr>
          <a:xfrm>
            <a:off x="411480" y="4846320"/>
            <a:ext cx="8321040" cy="20116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Akshara Miriyala  |  MS Business Analytics  |  University of Cincinnati  |  BANA 7099 Capstone</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65312"/>
    </mc:Choice>
    <mc:Fallback xmlns="">
      <p:transition spd="slow" advTm="6531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A"/>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0D5C63"/>
                </a:solidFill>
                <a:latin typeface="Cambria" pitchFamily="34" charset="0"/>
                <a:ea typeface="Cambria" pitchFamily="34" charset="-122"/>
                <a:cs typeface="Cambria" pitchFamily="34" charset="-120"/>
              </a:rPr>
              <a:t>Solution Approach — Analytics Pipeline</a:t>
            </a:r>
            <a:endParaRPr lang="en-US" sz="2800" dirty="0"/>
          </a:p>
        </p:txBody>
      </p:sp>
      <p:sp>
        <p:nvSpPr>
          <p:cNvPr id="3" name="Shape 1"/>
          <p:cNvSpPr/>
          <p:nvPr/>
        </p:nvSpPr>
        <p:spPr>
          <a:xfrm>
            <a:off x="274320" y="822960"/>
            <a:ext cx="1298448" cy="3566160"/>
          </a:xfrm>
          <a:prstGeom prst="roundRect">
            <a:avLst>
              <a:gd name="adj" fmla="val 8451"/>
            </a:avLst>
          </a:prstGeom>
          <a:solidFill>
            <a:srgbClr val="FFFFFF"/>
          </a:solidFill>
          <a:ln/>
          <a:effectLst>
            <a:outerShdw blurRad="101600" dist="38100" dir="2700000" algn="bl" rotWithShape="0">
              <a:srgbClr val="000000">
                <a:alpha val="12000"/>
              </a:srgbClr>
            </a:outerShdw>
          </a:effectLst>
        </p:spPr>
      </p:sp>
      <p:sp>
        <p:nvSpPr>
          <p:cNvPr id="4" name="Shape 2"/>
          <p:cNvSpPr/>
          <p:nvPr/>
        </p:nvSpPr>
        <p:spPr>
          <a:xfrm>
            <a:off x="685800" y="914400"/>
            <a:ext cx="475488" cy="475488"/>
          </a:xfrm>
          <a:prstGeom prst="ellipse">
            <a:avLst/>
          </a:prstGeom>
          <a:solidFill>
            <a:srgbClr val="0D5C63"/>
          </a:solidFill>
          <a:ln w="12700">
            <a:solidFill>
              <a:srgbClr val="FFFFFF"/>
            </a:solidFill>
            <a:prstDash val="solid"/>
          </a:ln>
        </p:spPr>
      </p:sp>
      <p:sp>
        <p:nvSpPr>
          <p:cNvPr id="5" name="Text 3"/>
          <p:cNvSpPr/>
          <p:nvPr/>
        </p:nvSpPr>
        <p:spPr>
          <a:xfrm>
            <a:off x="685800" y="91440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347472" y="1463040"/>
            <a:ext cx="1170432" cy="502920"/>
          </a:xfrm>
          <a:prstGeom prst="rect">
            <a:avLst/>
          </a:prstGeom>
          <a:noFill/>
          <a:ln/>
        </p:spPr>
        <p:txBody>
          <a:bodyPr wrap="square" lIns="0" tIns="0" rIns="0" bIns="0" rtlCol="0" anchor="ctr"/>
          <a:lstStyle/>
          <a:p>
            <a:pPr marL="0" indent="0" algn="ctr">
              <a:buNone/>
            </a:pPr>
            <a:r>
              <a:rPr lang="en-US" sz="1100" b="1" dirty="0">
                <a:solidFill>
                  <a:srgbClr val="0D5C63"/>
                </a:solidFill>
                <a:latin typeface="Arial" pitchFamily="34" charset="0"/>
                <a:ea typeface="Arial" pitchFamily="34" charset="-122"/>
                <a:cs typeface="Arial" pitchFamily="34" charset="-120"/>
              </a:rPr>
              <a:t>Data</a:t>
            </a:r>
            <a:endParaRPr lang="en-US" sz="1100" dirty="0"/>
          </a:p>
          <a:p>
            <a:pPr marL="0" indent="0" algn="ctr">
              <a:buNone/>
            </a:pPr>
            <a:r>
              <a:rPr lang="en-US" sz="1100" b="1" dirty="0">
                <a:solidFill>
                  <a:srgbClr val="0D5C63"/>
                </a:solidFill>
                <a:latin typeface="Arial" pitchFamily="34" charset="0"/>
                <a:ea typeface="Arial" pitchFamily="34" charset="-122"/>
                <a:cs typeface="Arial" pitchFamily="34" charset="-120"/>
              </a:rPr>
              <a:t>Cleaning</a:t>
            </a:r>
            <a:endParaRPr lang="en-US" sz="1100" dirty="0"/>
          </a:p>
        </p:txBody>
      </p:sp>
      <p:sp>
        <p:nvSpPr>
          <p:cNvPr id="7" name="Text 5"/>
          <p:cNvSpPr/>
          <p:nvPr/>
        </p:nvSpPr>
        <p:spPr>
          <a:xfrm>
            <a:off x="347472" y="2011680"/>
            <a:ext cx="1170432" cy="2194560"/>
          </a:xfrm>
          <a:prstGeom prst="rect">
            <a:avLst/>
          </a:prstGeom>
          <a:noFill/>
          <a:ln/>
        </p:spPr>
        <p:txBody>
          <a:bodyPr wrap="square" lIns="0" tIns="0" rIns="0" bIns="0" rtlCol="0" anchor="ctr"/>
          <a:lstStyle/>
          <a:p>
            <a:pPr marL="0" indent="0" algn="ctr">
              <a:buNone/>
            </a:pPr>
            <a:r>
              <a:rPr lang="en-US" sz="900" dirty="0">
                <a:solidFill>
                  <a:srgbClr val="0D2B2E"/>
                </a:solidFill>
                <a:latin typeface="Arial" pitchFamily="34" charset="0"/>
                <a:ea typeface="Arial" pitchFamily="34" charset="-122"/>
                <a:cs typeface="Arial" pitchFamily="34" charset="-120"/>
              </a:rPr>
              <a:t>Remove duplicates</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Handle missing values</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Binarize target</a:t>
            </a:r>
            <a:endParaRPr lang="en-US" sz="900" dirty="0"/>
          </a:p>
        </p:txBody>
      </p:sp>
      <p:sp>
        <p:nvSpPr>
          <p:cNvPr id="8" name="Shape 6"/>
          <p:cNvSpPr/>
          <p:nvPr/>
        </p:nvSpPr>
        <p:spPr>
          <a:xfrm>
            <a:off x="1572768" y="1691640"/>
            <a:ext cx="164592" cy="0"/>
          </a:xfrm>
          <a:prstGeom prst="line">
            <a:avLst/>
          </a:prstGeom>
          <a:noFill/>
          <a:ln w="25400">
            <a:solidFill>
              <a:srgbClr val="0D9488"/>
            </a:solidFill>
            <a:prstDash val="solid"/>
          </a:ln>
        </p:spPr>
      </p:sp>
      <p:sp>
        <p:nvSpPr>
          <p:cNvPr id="9" name="Shape 7"/>
          <p:cNvSpPr/>
          <p:nvPr/>
        </p:nvSpPr>
        <p:spPr>
          <a:xfrm>
            <a:off x="1737360" y="822960"/>
            <a:ext cx="1298448" cy="3566160"/>
          </a:xfrm>
          <a:prstGeom prst="roundRect">
            <a:avLst>
              <a:gd name="adj" fmla="val 8451"/>
            </a:avLst>
          </a:prstGeom>
          <a:solidFill>
            <a:srgbClr val="FFFFFF"/>
          </a:solidFill>
          <a:ln/>
          <a:effectLst>
            <a:outerShdw blurRad="101600" dist="38100" dir="2700000" algn="bl" rotWithShape="0">
              <a:srgbClr val="000000">
                <a:alpha val="12000"/>
              </a:srgbClr>
            </a:outerShdw>
          </a:effectLst>
        </p:spPr>
      </p:sp>
      <p:sp>
        <p:nvSpPr>
          <p:cNvPr id="10" name="Shape 8"/>
          <p:cNvSpPr/>
          <p:nvPr/>
        </p:nvSpPr>
        <p:spPr>
          <a:xfrm>
            <a:off x="2148840" y="914400"/>
            <a:ext cx="475488" cy="475488"/>
          </a:xfrm>
          <a:prstGeom prst="ellipse">
            <a:avLst/>
          </a:prstGeom>
          <a:solidFill>
            <a:srgbClr val="0D5C63"/>
          </a:solidFill>
          <a:ln w="12700">
            <a:solidFill>
              <a:srgbClr val="FFFFFF"/>
            </a:solidFill>
            <a:prstDash val="solid"/>
          </a:ln>
        </p:spPr>
      </p:sp>
      <p:sp>
        <p:nvSpPr>
          <p:cNvPr id="11" name="Text 9"/>
          <p:cNvSpPr/>
          <p:nvPr/>
        </p:nvSpPr>
        <p:spPr>
          <a:xfrm>
            <a:off x="2148840" y="91440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810512" y="1463040"/>
            <a:ext cx="1170432" cy="502920"/>
          </a:xfrm>
          <a:prstGeom prst="rect">
            <a:avLst/>
          </a:prstGeom>
          <a:noFill/>
          <a:ln/>
        </p:spPr>
        <p:txBody>
          <a:bodyPr wrap="square" lIns="0" tIns="0" rIns="0" bIns="0" rtlCol="0" anchor="ctr"/>
          <a:lstStyle/>
          <a:p>
            <a:pPr marL="0" indent="0" algn="ctr">
              <a:buNone/>
            </a:pPr>
            <a:r>
              <a:rPr lang="en-US" sz="1100" b="1" dirty="0">
                <a:solidFill>
                  <a:srgbClr val="0D5C63"/>
                </a:solidFill>
                <a:latin typeface="Arial" pitchFamily="34" charset="0"/>
                <a:ea typeface="Arial" pitchFamily="34" charset="-122"/>
                <a:cs typeface="Arial" pitchFamily="34" charset="-120"/>
              </a:rPr>
              <a:t>EDA</a:t>
            </a:r>
            <a:endParaRPr lang="en-US" sz="1100" dirty="0"/>
          </a:p>
        </p:txBody>
      </p:sp>
      <p:sp>
        <p:nvSpPr>
          <p:cNvPr id="13" name="Text 11"/>
          <p:cNvSpPr/>
          <p:nvPr/>
        </p:nvSpPr>
        <p:spPr>
          <a:xfrm>
            <a:off x="1810512" y="2011680"/>
            <a:ext cx="1170432" cy="2194560"/>
          </a:xfrm>
          <a:prstGeom prst="rect">
            <a:avLst/>
          </a:prstGeom>
          <a:noFill/>
          <a:ln/>
        </p:spPr>
        <p:txBody>
          <a:bodyPr wrap="square" lIns="0" tIns="0" rIns="0" bIns="0" rtlCol="0" anchor="ctr"/>
          <a:lstStyle/>
          <a:p>
            <a:pPr marL="0" indent="0" algn="ctr">
              <a:buNone/>
            </a:pPr>
            <a:r>
              <a:rPr lang="en-US" sz="900" dirty="0">
                <a:solidFill>
                  <a:srgbClr val="0D2B2E"/>
                </a:solidFill>
                <a:latin typeface="Arial" pitchFamily="34" charset="0"/>
                <a:ea typeface="Arial" pitchFamily="34" charset="-122"/>
                <a:cs typeface="Arial" pitchFamily="34" charset="-120"/>
              </a:rPr>
              <a:t>7 visualization plots</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Readmission rates</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Correlation heatmap</a:t>
            </a:r>
            <a:endParaRPr lang="en-US" sz="900" dirty="0"/>
          </a:p>
        </p:txBody>
      </p:sp>
      <p:sp>
        <p:nvSpPr>
          <p:cNvPr id="14" name="Shape 12"/>
          <p:cNvSpPr/>
          <p:nvPr/>
        </p:nvSpPr>
        <p:spPr>
          <a:xfrm>
            <a:off x="3035808" y="1691640"/>
            <a:ext cx="164592" cy="0"/>
          </a:xfrm>
          <a:prstGeom prst="line">
            <a:avLst/>
          </a:prstGeom>
          <a:noFill/>
          <a:ln w="25400">
            <a:solidFill>
              <a:srgbClr val="0D9488"/>
            </a:solidFill>
            <a:prstDash val="solid"/>
          </a:ln>
        </p:spPr>
      </p:sp>
      <p:sp>
        <p:nvSpPr>
          <p:cNvPr id="15" name="Shape 13"/>
          <p:cNvSpPr/>
          <p:nvPr/>
        </p:nvSpPr>
        <p:spPr>
          <a:xfrm>
            <a:off x="3200400" y="822960"/>
            <a:ext cx="1298448" cy="3566160"/>
          </a:xfrm>
          <a:prstGeom prst="roundRect">
            <a:avLst>
              <a:gd name="adj" fmla="val 8451"/>
            </a:avLst>
          </a:prstGeom>
          <a:solidFill>
            <a:srgbClr val="FFFFFF"/>
          </a:solidFill>
          <a:ln/>
          <a:effectLst>
            <a:outerShdw blurRad="101600" dist="38100" dir="2700000" algn="bl" rotWithShape="0">
              <a:srgbClr val="000000">
                <a:alpha val="12000"/>
              </a:srgbClr>
            </a:outerShdw>
          </a:effectLst>
        </p:spPr>
      </p:sp>
      <p:sp>
        <p:nvSpPr>
          <p:cNvPr id="16" name="Shape 14"/>
          <p:cNvSpPr/>
          <p:nvPr/>
        </p:nvSpPr>
        <p:spPr>
          <a:xfrm>
            <a:off x="3611880" y="914400"/>
            <a:ext cx="475488" cy="475488"/>
          </a:xfrm>
          <a:prstGeom prst="ellipse">
            <a:avLst/>
          </a:prstGeom>
          <a:solidFill>
            <a:srgbClr val="0D5C63"/>
          </a:solidFill>
          <a:ln w="12700">
            <a:solidFill>
              <a:srgbClr val="FFFFFF"/>
            </a:solidFill>
            <a:prstDash val="solid"/>
          </a:ln>
        </p:spPr>
      </p:sp>
      <p:sp>
        <p:nvSpPr>
          <p:cNvPr id="17" name="Text 15"/>
          <p:cNvSpPr/>
          <p:nvPr/>
        </p:nvSpPr>
        <p:spPr>
          <a:xfrm>
            <a:off x="3611880" y="91440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3273552" y="1463040"/>
            <a:ext cx="1170432" cy="502920"/>
          </a:xfrm>
          <a:prstGeom prst="rect">
            <a:avLst/>
          </a:prstGeom>
          <a:noFill/>
          <a:ln/>
        </p:spPr>
        <p:txBody>
          <a:bodyPr wrap="square" lIns="0" tIns="0" rIns="0" bIns="0" rtlCol="0" anchor="ctr"/>
          <a:lstStyle/>
          <a:p>
            <a:pPr marL="0" indent="0" algn="ctr">
              <a:buNone/>
            </a:pPr>
            <a:r>
              <a:rPr lang="en-US" sz="1100" b="1" dirty="0">
                <a:solidFill>
                  <a:srgbClr val="0D5C63"/>
                </a:solidFill>
                <a:latin typeface="Arial" pitchFamily="34" charset="0"/>
                <a:ea typeface="Arial" pitchFamily="34" charset="-122"/>
                <a:cs typeface="Arial" pitchFamily="34" charset="-120"/>
              </a:rPr>
              <a:t>Feature</a:t>
            </a:r>
            <a:endParaRPr lang="en-US" sz="1100" dirty="0"/>
          </a:p>
          <a:p>
            <a:pPr marL="0" indent="0" algn="ctr">
              <a:buNone/>
            </a:pPr>
            <a:r>
              <a:rPr lang="en-US" sz="1100" b="1" dirty="0">
                <a:solidFill>
                  <a:srgbClr val="0D5C63"/>
                </a:solidFill>
                <a:latin typeface="Arial" pitchFamily="34" charset="0"/>
                <a:ea typeface="Arial" pitchFamily="34" charset="-122"/>
                <a:cs typeface="Arial" pitchFamily="34" charset="-120"/>
              </a:rPr>
              <a:t>Engineering</a:t>
            </a:r>
            <a:endParaRPr lang="en-US" sz="1100" dirty="0"/>
          </a:p>
        </p:txBody>
      </p:sp>
      <p:sp>
        <p:nvSpPr>
          <p:cNvPr id="19" name="Text 17"/>
          <p:cNvSpPr/>
          <p:nvPr/>
        </p:nvSpPr>
        <p:spPr>
          <a:xfrm>
            <a:off x="3273552" y="2011680"/>
            <a:ext cx="1170432" cy="2194560"/>
          </a:xfrm>
          <a:prstGeom prst="rect">
            <a:avLst/>
          </a:prstGeom>
          <a:noFill/>
          <a:ln/>
        </p:spPr>
        <p:txBody>
          <a:bodyPr wrap="square" lIns="0" tIns="0" rIns="0" bIns="0" rtlCol="0" anchor="ctr"/>
          <a:lstStyle/>
          <a:p>
            <a:pPr marL="0" indent="0" algn="ctr">
              <a:buNone/>
            </a:pPr>
            <a:r>
              <a:rPr lang="en-US" sz="900" dirty="0">
                <a:solidFill>
                  <a:srgbClr val="0D2B2E"/>
                </a:solidFill>
                <a:latin typeface="Arial" pitchFamily="34" charset="0"/>
                <a:ea typeface="Arial" pitchFamily="34" charset="-122"/>
                <a:cs typeface="Arial" pitchFamily="34" charset="-120"/>
              </a:rPr>
              <a:t>Encode categoricals</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Simplify medications</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70/30 stratified split</a:t>
            </a:r>
            <a:endParaRPr lang="en-US" sz="900" dirty="0"/>
          </a:p>
        </p:txBody>
      </p:sp>
      <p:sp>
        <p:nvSpPr>
          <p:cNvPr id="20" name="Shape 18"/>
          <p:cNvSpPr/>
          <p:nvPr/>
        </p:nvSpPr>
        <p:spPr>
          <a:xfrm>
            <a:off x="4498848" y="1691640"/>
            <a:ext cx="164592" cy="0"/>
          </a:xfrm>
          <a:prstGeom prst="line">
            <a:avLst/>
          </a:prstGeom>
          <a:noFill/>
          <a:ln w="25400">
            <a:solidFill>
              <a:srgbClr val="0D9488"/>
            </a:solidFill>
            <a:prstDash val="solid"/>
          </a:ln>
        </p:spPr>
      </p:sp>
      <p:sp>
        <p:nvSpPr>
          <p:cNvPr id="21" name="Shape 19"/>
          <p:cNvSpPr/>
          <p:nvPr/>
        </p:nvSpPr>
        <p:spPr>
          <a:xfrm>
            <a:off x="4663440" y="822960"/>
            <a:ext cx="1298448" cy="3566160"/>
          </a:xfrm>
          <a:prstGeom prst="roundRect">
            <a:avLst>
              <a:gd name="adj" fmla="val 8451"/>
            </a:avLst>
          </a:prstGeom>
          <a:solidFill>
            <a:srgbClr val="FFFFFF"/>
          </a:solidFill>
          <a:ln/>
          <a:effectLst>
            <a:outerShdw blurRad="101600" dist="38100" dir="2700000" algn="bl" rotWithShape="0">
              <a:srgbClr val="000000">
                <a:alpha val="12000"/>
              </a:srgbClr>
            </a:outerShdw>
          </a:effectLst>
        </p:spPr>
      </p:sp>
      <p:sp>
        <p:nvSpPr>
          <p:cNvPr id="22" name="Shape 20"/>
          <p:cNvSpPr/>
          <p:nvPr/>
        </p:nvSpPr>
        <p:spPr>
          <a:xfrm>
            <a:off x="5074920" y="914400"/>
            <a:ext cx="475488" cy="475488"/>
          </a:xfrm>
          <a:prstGeom prst="ellipse">
            <a:avLst/>
          </a:prstGeom>
          <a:solidFill>
            <a:srgbClr val="0D5C63"/>
          </a:solidFill>
          <a:ln w="12700">
            <a:solidFill>
              <a:srgbClr val="FFFFFF"/>
            </a:solidFill>
            <a:prstDash val="solid"/>
          </a:ln>
        </p:spPr>
      </p:sp>
      <p:sp>
        <p:nvSpPr>
          <p:cNvPr id="23" name="Text 21"/>
          <p:cNvSpPr/>
          <p:nvPr/>
        </p:nvSpPr>
        <p:spPr>
          <a:xfrm>
            <a:off x="5074920" y="91440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4" name="Text 22"/>
          <p:cNvSpPr/>
          <p:nvPr/>
        </p:nvSpPr>
        <p:spPr>
          <a:xfrm>
            <a:off x="4736592" y="1463040"/>
            <a:ext cx="1170432" cy="502920"/>
          </a:xfrm>
          <a:prstGeom prst="rect">
            <a:avLst/>
          </a:prstGeom>
          <a:noFill/>
          <a:ln/>
        </p:spPr>
        <p:txBody>
          <a:bodyPr wrap="square" lIns="0" tIns="0" rIns="0" bIns="0" rtlCol="0" anchor="ctr"/>
          <a:lstStyle/>
          <a:p>
            <a:pPr marL="0" indent="0" algn="ctr">
              <a:buNone/>
            </a:pPr>
            <a:r>
              <a:rPr lang="en-US" sz="1100" b="1" dirty="0">
                <a:solidFill>
                  <a:srgbClr val="0D5C63"/>
                </a:solidFill>
                <a:latin typeface="Arial" pitchFamily="34" charset="0"/>
                <a:ea typeface="Arial" pitchFamily="34" charset="-122"/>
                <a:cs typeface="Arial" pitchFamily="34" charset="-120"/>
              </a:rPr>
              <a:t>Modeling</a:t>
            </a:r>
            <a:endParaRPr lang="en-US" sz="1100" dirty="0"/>
          </a:p>
        </p:txBody>
      </p:sp>
      <p:sp>
        <p:nvSpPr>
          <p:cNvPr id="25" name="Text 23"/>
          <p:cNvSpPr/>
          <p:nvPr/>
        </p:nvSpPr>
        <p:spPr>
          <a:xfrm>
            <a:off x="4736592" y="2011680"/>
            <a:ext cx="1170432" cy="2194560"/>
          </a:xfrm>
          <a:prstGeom prst="rect">
            <a:avLst/>
          </a:prstGeom>
          <a:noFill/>
          <a:ln/>
        </p:spPr>
        <p:txBody>
          <a:bodyPr wrap="square" lIns="0" tIns="0" rIns="0" bIns="0" rtlCol="0" anchor="ctr"/>
          <a:lstStyle/>
          <a:p>
            <a:pPr marL="0" indent="0" algn="ctr">
              <a:buNone/>
            </a:pPr>
            <a:r>
              <a:rPr lang="en-US" sz="900" dirty="0">
                <a:solidFill>
                  <a:srgbClr val="0D2B2E"/>
                </a:solidFill>
                <a:latin typeface="Arial" pitchFamily="34" charset="0"/>
                <a:ea typeface="Arial" pitchFamily="34" charset="-122"/>
                <a:cs typeface="Arial" pitchFamily="34" charset="-120"/>
              </a:rPr>
              <a:t>4 ML models</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class_weight balanced</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Fixed seed = 42</a:t>
            </a:r>
            <a:endParaRPr lang="en-US" sz="900" dirty="0"/>
          </a:p>
        </p:txBody>
      </p:sp>
      <p:sp>
        <p:nvSpPr>
          <p:cNvPr id="26" name="Shape 24"/>
          <p:cNvSpPr/>
          <p:nvPr/>
        </p:nvSpPr>
        <p:spPr>
          <a:xfrm>
            <a:off x="5961888" y="1691640"/>
            <a:ext cx="164592" cy="0"/>
          </a:xfrm>
          <a:prstGeom prst="line">
            <a:avLst/>
          </a:prstGeom>
          <a:noFill/>
          <a:ln w="25400">
            <a:solidFill>
              <a:srgbClr val="0D9488"/>
            </a:solidFill>
            <a:prstDash val="solid"/>
          </a:ln>
        </p:spPr>
      </p:sp>
      <p:sp>
        <p:nvSpPr>
          <p:cNvPr id="27" name="Shape 25"/>
          <p:cNvSpPr/>
          <p:nvPr/>
        </p:nvSpPr>
        <p:spPr>
          <a:xfrm>
            <a:off x="6126480" y="822960"/>
            <a:ext cx="1298448" cy="3566160"/>
          </a:xfrm>
          <a:prstGeom prst="roundRect">
            <a:avLst>
              <a:gd name="adj" fmla="val 8451"/>
            </a:avLst>
          </a:prstGeom>
          <a:solidFill>
            <a:srgbClr val="FFFFFF"/>
          </a:solidFill>
          <a:ln/>
          <a:effectLst>
            <a:outerShdw blurRad="101600" dist="38100" dir="2700000" algn="bl" rotWithShape="0">
              <a:srgbClr val="000000">
                <a:alpha val="12000"/>
              </a:srgbClr>
            </a:outerShdw>
          </a:effectLst>
        </p:spPr>
      </p:sp>
      <p:sp>
        <p:nvSpPr>
          <p:cNvPr id="28" name="Shape 26"/>
          <p:cNvSpPr/>
          <p:nvPr/>
        </p:nvSpPr>
        <p:spPr>
          <a:xfrm>
            <a:off x="6537960" y="914400"/>
            <a:ext cx="475488" cy="475488"/>
          </a:xfrm>
          <a:prstGeom prst="ellipse">
            <a:avLst/>
          </a:prstGeom>
          <a:solidFill>
            <a:srgbClr val="0D5C63"/>
          </a:solidFill>
          <a:ln w="12700">
            <a:solidFill>
              <a:srgbClr val="FFFFFF"/>
            </a:solidFill>
            <a:prstDash val="solid"/>
          </a:ln>
        </p:spPr>
      </p:sp>
      <p:sp>
        <p:nvSpPr>
          <p:cNvPr id="29" name="Text 27"/>
          <p:cNvSpPr/>
          <p:nvPr/>
        </p:nvSpPr>
        <p:spPr>
          <a:xfrm>
            <a:off x="6537960" y="91440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0" name="Text 28"/>
          <p:cNvSpPr/>
          <p:nvPr/>
        </p:nvSpPr>
        <p:spPr>
          <a:xfrm>
            <a:off x="6199632" y="1463040"/>
            <a:ext cx="1170432" cy="502920"/>
          </a:xfrm>
          <a:prstGeom prst="rect">
            <a:avLst/>
          </a:prstGeom>
          <a:noFill/>
          <a:ln/>
        </p:spPr>
        <p:txBody>
          <a:bodyPr wrap="square" lIns="0" tIns="0" rIns="0" bIns="0" rtlCol="0" anchor="ctr"/>
          <a:lstStyle/>
          <a:p>
            <a:pPr marL="0" indent="0" algn="ctr">
              <a:buNone/>
            </a:pPr>
            <a:r>
              <a:rPr lang="en-US" sz="1100" b="1" dirty="0">
                <a:solidFill>
                  <a:srgbClr val="0D5C63"/>
                </a:solidFill>
                <a:latin typeface="Arial" pitchFamily="34" charset="0"/>
                <a:ea typeface="Arial" pitchFamily="34" charset="-122"/>
                <a:cs typeface="Arial" pitchFamily="34" charset="-120"/>
              </a:rPr>
              <a:t>Evaluation</a:t>
            </a:r>
            <a:endParaRPr lang="en-US" sz="1100" dirty="0"/>
          </a:p>
        </p:txBody>
      </p:sp>
      <p:sp>
        <p:nvSpPr>
          <p:cNvPr id="31" name="Text 29"/>
          <p:cNvSpPr/>
          <p:nvPr/>
        </p:nvSpPr>
        <p:spPr>
          <a:xfrm>
            <a:off x="6199632" y="2011680"/>
            <a:ext cx="1170432" cy="2194560"/>
          </a:xfrm>
          <a:prstGeom prst="rect">
            <a:avLst/>
          </a:prstGeom>
          <a:noFill/>
          <a:ln/>
        </p:spPr>
        <p:txBody>
          <a:bodyPr wrap="square" lIns="0" tIns="0" rIns="0" bIns="0" rtlCol="0" anchor="ctr"/>
          <a:lstStyle/>
          <a:p>
            <a:pPr marL="0" indent="0" algn="ctr">
              <a:buNone/>
            </a:pPr>
            <a:r>
              <a:rPr lang="en-US" sz="900" dirty="0">
                <a:solidFill>
                  <a:srgbClr val="0D2B2E"/>
                </a:solidFill>
                <a:latin typeface="Arial" pitchFamily="34" charset="0"/>
                <a:ea typeface="Arial" pitchFamily="34" charset="-122"/>
                <a:cs typeface="Arial" pitchFamily="34" charset="-120"/>
              </a:rPr>
              <a:t>AUC-ROC primary</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Confusion matrices</a:t>
            </a:r>
            <a:endParaRPr lang="en-US" sz="900" dirty="0"/>
          </a:p>
          <a:p>
            <a:pPr marL="0" indent="0" algn="ctr">
              <a:buNone/>
            </a:pPr>
            <a:r>
              <a:rPr lang="en-US" sz="900" dirty="0">
                <a:solidFill>
                  <a:srgbClr val="0D2B2E"/>
                </a:solidFill>
                <a:latin typeface="Arial" pitchFamily="34" charset="0"/>
                <a:ea typeface="Arial" pitchFamily="34" charset="-122"/>
                <a:cs typeface="Arial" pitchFamily="34" charset="-120"/>
              </a:rPr>
              <a:t>F1 + Sensitivity</a:t>
            </a:r>
            <a:endParaRPr lang="en-US" sz="900" dirty="0"/>
          </a:p>
        </p:txBody>
      </p:sp>
      <p:sp>
        <p:nvSpPr>
          <p:cNvPr id="32" name="Shape 30"/>
          <p:cNvSpPr/>
          <p:nvPr/>
        </p:nvSpPr>
        <p:spPr>
          <a:xfrm>
            <a:off x="7424928" y="1691640"/>
            <a:ext cx="164592" cy="0"/>
          </a:xfrm>
          <a:prstGeom prst="line">
            <a:avLst/>
          </a:prstGeom>
          <a:noFill/>
          <a:ln w="25400">
            <a:solidFill>
              <a:srgbClr val="0D9488"/>
            </a:solidFill>
            <a:prstDash val="solid"/>
          </a:ln>
        </p:spPr>
      </p:sp>
      <p:sp>
        <p:nvSpPr>
          <p:cNvPr id="33" name="Shape 31"/>
          <p:cNvSpPr/>
          <p:nvPr/>
        </p:nvSpPr>
        <p:spPr>
          <a:xfrm>
            <a:off x="7589520" y="822960"/>
            <a:ext cx="1298448" cy="3566160"/>
          </a:xfrm>
          <a:prstGeom prst="roundRect">
            <a:avLst>
              <a:gd name="adj" fmla="val 8451"/>
            </a:avLst>
          </a:prstGeom>
          <a:solidFill>
            <a:srgbClr val="0D5C63"/>
          </a:solidFill>
          <a:ln/>
          <a:effectLst>
            <a:outerShdw blurRad="101600" dist="38100" dir="2700000" algn="bl" rotWithShape="0">
              <a:srgbClr val="000000">
                <a:alpha val="12000"/>
              </a:srgbClr>
            </a:outerShdw>
          </a:effectLst>
        </p:spPr>
      </p:sp>
      <p:sp>
        <p:nvSpPr>
          <p:cNvPr id="34" name="Shape 32"/>
          <p:cNvSpPr/>
          <p:nvPr/>
        </p:nvSpPr>
        <p:spPr>
          <a:xfrm>
            <a:off x="8001000" y="914400"/>
            <a:ext cx="475488" cy="475488"/>
          </a:xfrm>
          <a:prstGeom prst="ellipse">
            <a:avLst/>
          </a:prstGeom>
          <a:solidFill>
            <a:srgbClr val="E0A800"/>
          </a:solidFill>
          <a:ln w="12700">
            <a:solidFill>
              <a:srgbClr val="FFFFFF"/>
            </a:solidFill>
            <a:prstDash val="solid"/>
          </a:ln>
        </p:spPr>
      </p:sp>
      <p:sp>
        <p:nvSpPr>
          <p:cNvPr id="35" name="Text 33"/>
          <p:cNvSpPr/>
          <p:nvPr/>
        </p:nvSpPr>
        <p:spPr>
          <a:xfrm>
            <a:off x="8001000" y="91440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6" name="Text 34"/>
          <p:cNvSpPr/>
          <p:nvPr/>
        </p:nvSpPr>
        <p:spPr>
          <a:xfrm>
            <a:off x="7662672" y="1463040"/>
            <a:ext cx="1170432" cy="502920"/>
          </a:xfrm>
          <a:prstGeom prst="rect">
            <a:avLst/>
          </a:prstGeom>
          <a:noFill/>
          <a:ln/>
        </p:spPr>
        <p:txBody>
          <a:bodyPr wrap="square" lIns="0" tIns="0" rIns="0" bIns="0" rtlCol="0" anchor="ctr"/>
          <a:lstStyle/>
          <a:p>
            <a:pPr marL="0" indent="0" algn="ctr">
              <a:buNone/>
            </a:pPr>
            <a:r>
              <a:rPr lang="en-US" sz="1100" b="1" dirty="0">
                <a:solidFill>
                  <a:srgbClr val="E0A800"/>
                </a:solidFill>
                <a:latin typeface="Arial" pitchFamily="34" charset="0"/>
                <a:ea typeface="Arial" pitchFamily="34" charset="-122"/>
                <a:cs typeface="Arial" pitchFamily="34" charset="-120"/>
              </a:rPr>
              <a:t>Prescriptive</a:t>
            </a:r>
            <a:endParaRPr lang="en-US" sz="1100" dirty="0"/>
          </a:p>
          <a:p>
            <a:pPr marL="0" indent="0" algn="ctr">
              <a:buNone/>
            </a:pPr>
            <a:r>
              <a:rPr lang="en-US" sz="1100" b="1" dirty="0">
                <a:solidFill>
                  <a:srgbClr val="E0A800"/>
                </a:solidFill>
                <a:latin typeface="Arial" pitchFamily="34" charset="0"/>
                <a:ea typeface="Arial" pitchFamily="34" charset="-122"/>
                <a:cs typeface="Arial" pitchFamily="34" charset="-120"/>
              </a:rPr>
              <a:t>Layer</a:t>
            </a:r>
            <a:endParaRPr lang="en-US" sz="1100" dirty="0"/>
          </a:p>
        </p:txBody>
      </p:sp>
      <p:sp>
        <p:nvSpPr>
          <p:cNvPr id="37" name="Text 35"/>
          <p:cNvSpPr/>
          <p:nvPr/>
        </p:nvSpPr>
        <p:spPr>
          <a:xfrm>
            <a:off x="7662672" y="2011680"/>
            <a:ext cx="1170432" cy="2194560"/>
          </a:xfrm>
          <a:prstGeom prst="rect">
            <a:avLst/>
          </a:prstGeom>
          <a:noFill/>
          <a:ln/>
        </p:spPr>
        <p:txBody>
          <a:bodyPr wrap="square" lIns="0" tIns="0" rIns="0" bIns="0"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Variable importance</a:t>
            </a:r>
            <a:endParaRPr lang="en-US" sz="900" dirty="0"/>
          </a:p>
          <a:p>
            <a:pPr marL="0" indent="0" algn="ctr">
              <a:buNone/>
            </a:pPr>
            <a:r>
              <a:rPr lang="en-US" sz="900" dirty="0">
                <a:solidFill>
                  <a:srgbClr val="FFFFFF"/>
                </a:solidFill>
                <a:latin typeface="Arial" pitchFamily="34" charset="0"/>
                <a:ea typeface="Arial" pitchFamily="34" charset="-122"/>
                <a:cs typeface="Arial" pitchFamily="34" charset="-120"/>
              </a:rPr>
              <a:t>Partial dependence</a:t>
            </a:r>
            <a:endParaRPr lang="en-US" sz="900" dirty="0"/>
          </a:p>
          <a:p>
            <a:pPr marL="0" indent="0" algn="ctr">
              <a:buNone/>
            </a:pPr>
            <a:r>
              <a:rPr lang="en-US" sz="900" dirty="0">
                <a:solidFill>
                  <a:srgbClr val="FFFFFF"/>
                </a:solidFill>
                <a:latin typeface="Arial" pitchFamily="34" charset="0"/>
                <a:ea typeface="Arial" pitchFamily="34" charset="-122"/>
                <a:cs typeface="Arial" pitchFamily="34" charset="-120"/>
              </a:rPr>
              <a:t>Clinical recs</a:t>
            </a:r>
            <a:endParaRPr lang="en-US" sz="900" dirty="0"/>
          </a:p>
        </p:txBody>
      </p:sp>
      <p:sp>
        <p:nvSpPr>
          <p:cNvPr id="38" name="Shape 36"/>
          <p:cNvSpPr/>
          <p:nvPr/>
        </p:nvSpPr>
        <p:spPr>
          <a:xfrm>
            <a:off x="274320" y="4572000"/>
            <a:ext cx="8458200" cy="384048"/>
          </a:xfrm>
          <a:prstGeom prst="roundRect">
            <a:avLst>
              <a:gd name="adj" fmla="val 19048"/>
            </a:avLst>
          </a:prstGeom>
          <a:solidFill>
            <a:srgbClr val="CCEDE9"/>
          </a:solidFill>
          <a:ln w="12700">
            <a:solidFill>
              <a:srgbClr val="0D9488"/>
            </a:solidFill>
            <a:prstDash val="solid"/>
          </a:ln>
        </p:spPr>
      </p:sp>
      <p:sp>
        <p:nvSpPr>
          <p:cNvPr id="39" name="Text 37"/>
          <p:cNvSpPr/>
          <p:nvPr/>
        </p:nvSpPr>
        <p:spPr>
          <a:xfrm>
            <a:off x="274320" y="4572000"/>
            <a:ext cx="8458200" cy="384048"/>
          </a:xfrm>
          <a:prstGeom prst="rect">
            <a:avLst/>
          </a:prstGeom>
          <a:noFill/>
          <a:ln/>
        </p:spPr>
        <p:txBody>
          <a:bodyPr wrap="square" lIns="0" tIns="0" rIns="0" bIns="0" rtlCol="0" anchor="ctr"/>
          <a:lstStyle/>
          <a:p>
            <a:pPr marL="0" indent="0" algn="ctr">
              <a:buNone/>
            </a:pPr>
            <a:r>
              <a:rPr lang="en-US" sz="950" dirty="0">
                <a:solidFill>
                  <a:srgbClr val="0D5C63"/>
                </a:solidFill>
                <a:latin typeface="Arial" pitchFamily="34" charset="0"/>
                <a:ea typeface="Arial" pitchFamily="34" charset="-122"/>
                <a:cs typeface="Arial" pitchFamily="34" charset="-120"/>
              </a:rPr>
              <a:t>Key Decisions: First-encounter dedup to prevent data leakage  |  class_weight="balanced" for 8.8% imbalance  |  Stratified 70/30 split  |  AUC-ROC as primary metric</a:t>
            </a:r>
            <a:endParaRPr lang="en-US" sz="950" dirty="0"/>
          </a:p>
        </p:txBody>
      </p:sp>
      <p:sp>
        <p:nvSpPr>
          <p:cNvPr id="40" name="Shape 38"/>
          <p:cNvSpPr/>
          <p:nvPr/>
        </p:nvSpPr>
        <p:spPr>
          <a:xfrm>
            <a:off x="411480" y="4800600"/>
            <a:ext cx="8321040" cy="0"/>
          </a:xfrm>
          <a:prstGeom prst="line">
            <a:avLst/>
          </a:prstGeom>
          <a:noFill/>
          <a:ln w="12700">
            <a:solidFill>
              <a:srgbClr val="0D9488"/>
            </a:solidFill>
            <a:prstDash val="solid"/>
          </a:ln>
        </p:spPr>
      </p:sp>
      <p:sp>
        <p:nvSpPr>
          <p:cNvPr id="41" name="Text 39"/>
          <p:cNvSpPr/>
          <p:nvPr/>
        </p:nvSpPr>
        <p:spPr>
          <a:xfrm>
            <a:off x="411480" y="4846320"/>
            <a:ext cx="8321040" cy="20116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Akshara Miriyala  |  MS Business Analytics  |  University of Cincinnati  |  BANA 7099 Capstone</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85836"/>
    </mc:Choice>
    <mc:Fallback xmlns="">
      <p:transition spd="slow" advTm="8583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A"/>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0D5C63"/>
                </a:solidFill>
                <a:latin typeface="Cambria" pitchFamily="34" charset="0"/>
                <a:ea typeface="Cambria" pitchFamily="34" charset="-122"/>
                <a:cs typeface="Cambria" pitchFamily="34" charset="-120"/>
              </a:rPr>
              <a:t>Four Machine Learning Models</a:t>
            </a:r>
            <a:endParaRPr lang="en-US" sz="2800" dirty="0"/>
          </a:p>
        </p:txBody>
      </p:sp>
      <p:sp>
        <p:nvSpPr>
          <p:cNvPr id="3" name="Shape 1"/>
          <p:cNvSpPr/>
          <p:nvPr/>
        </p:nvSpPr>
        <p:spPr>
          <a:xfrm>
            <a:off x="320040" y="804672"/>
            <a:ext cx="2011680" cy="4114800"/>
          </a:xfrm>
          <a:prstGeom prst="roundRect">
            <a:avLst>
              <a:gd name="adj" fmla="val 5455"/>
            </a:avLst>
          </a:prstGeom>
          <a:solidFill>
            <a:srgbClr val="FFFFFF"/>
          </a:solidFill>
          <a:ln/>
          <a:effectLst>
            <a:outerShdw blurRad="101600" dist="38100" dir="2700000" algn="bl" rotWithShape="0">
              <a:srgbClr val="000000">
                <a:alpha val="12000"/>
              </a:srgbClr>
            </a:outerShdw>
          </a:effectLst>
        </p:spPr>
      </p:sp>
      <p:sp>
        <p:nvSpPr>
          <p:cNvPr id="4" name="Text 2"/>
          <p:cNvSpPr/>
          <p:nvPr/>
        </p:nvSpPr>
        <p:spPr>
          <a:xfrm>
            <a:off x="411480" y="914400"/>
            <a:ext cx="1828800" cy="594360"/>
          </a:xfrm>
          <a:prstGeom prst="rect">
            <a:avLst/>
          </a:prstGeom>
          <a:noFill/>
          <a:ln/>
        </p:spPr>
        <p:txBody>
          <a:bodyPr wrap="square" lIns="0" tIns="0" rIns="0" bIns="0" rtlCol="0" anchor="ctr"/>
          <a:lstStyle/>
          <a:p>
            <a:pPr marL="0" indent="0" algn="ctr">
              <a:buNone/>
            </a:pPr>
            <a:r>
              <a:rPr lang="en-US" sz="1400" b="1" dirty="0">
                <a:solidFill>
                  <a:srgbClr val="0D5C63"/>
                </a:solidFill>
                <a:latin typeface="Cambria" pitchFamily="34" charset="0"/>
                <a:ea typeface="Cambria" pitchFamily="34" charset="-122"/>
                <a:cs typeface="Cambria" pitchFamily="34" charset="-120"/>
              </a:rPr>
              <a:t>Logistic</a:t>
            </a:r>
            <a:endParaRPr lang="en-US" sz="1400" dirty="0"/>
          </a:p>
          <a:p>
            <a:pPr marL="0" indent="0" algn="ctr">
              <a:buNone/>
            </a:pPr>
            <a:r>
              <a:rPr lang="en-US" sz="1400" b="1" dirty="0">
                <a:solidFill>
                  <a:srgbClr val="0D5C63"/>
                </a:solidFill>
                <a:latin typeface="Cambria" pitchFamily="34" charset="0"/>
                <a:ea typeface="Cambria" pitchFamily="34" charset="-122"/>
                <a:cs typeface="Cambria" pitchFamily="34" charset="-120"/>
              </a:rPr>
              <a:t>Regression</a:t>
            </a:r>
            <a:endParaRPr lang="en-US" sz="1400" dirty="0"/>
          </a:p>
        </p:txBody>
      </p:sp>
      <p:sp>
        <p:nvSpPr>
          <p:cNvPr id="5" name="Shape 3"/>
          <p:cNvSpPr/>
          <p:nvPr/>
        </p:nvSpPr>
        <p:spPr>
          <a:xfrm>
            <a:off x="548640" y="1536192"/>
            <a:ext cx="1554480" cy="0"/>
          </a:xfrm>
          <a:prstGeom prst="line">
            <a:avLst/>
          </a:prstGeom>
          <a:noFill/>
          <a:ln w="12700">
            <a:solidFill>
              <a:srgbClr val="E2E8F0"/>
            </a:solidFill>
            <a:prstDash val="solid"/>
          </a:ln>
        </p:spPr>
      </p:sp>
      <p:sp>
        <p:nvSpPr>
          <p:cNvPr id="6" name="Text 4"/>
          <p:cNvSpPr/>
          <p:nvPr/>
        </p:nvSpPr>
        <p:spPr>
          <a:xfrm>
            <a:off x="411480" y="1600200"/>
            <a:ext cx="1828800" cy="274320"/>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AUC</a:t>
            </a:r>
            <a:endParaRPr lang="en-US" sz="900" dirty="0"/>
          </a:p>
        </p:txBody>
      </p:sp>
      <p:sp>
        <p:nvSpPr>
          <p:cNvPr id="7" name="Text 5"/>
          <p:cNvSpPr/>
          <p:nvPr/>
        </p:nvSpPr>
        <p:spPr>
          <a:xfrm>
            <a:off x="411480" y="1847088"/>
            <a:ext cx="1828800" cy="502920"/>
          </a:xfrm>
          <a:prstGeom prst="rect">
            <a:avLst/>
          </a:prstGeom>
          <a:noFill/>
          <a:ln/>
        </p:spPr>
        <p:txBody>
          <a:bodyPr wrap="square" lIns="0" tIns="0" rIns="0" bIns="0" rtlCol="0" anchor="ctr"/>
          <a:lstStyle/>
          <a:p>
            <a:pPr marL="0" indent="0" algn="ctr">
              <a:buNone/>
            </a:pPr>
            <a:r>
              <a:rPr lang="en-US" sz="2600" b="1" dirty="0">
                <a:solidFill>
                  <a:srgbClr val="0D5C63"/>
                </a:solidFill>
                <a:latin typeface="Cambria" pitchFamily="34" charset="0"/>
                <a:ea typeface="Cambria" pitchFamily="34" charset="-122"/>
                <a:cs typeface="Cambria" pitchFamily="34" charset="-120"/>
              </a:rPr>
              <a:t>0.6175</a:t>
            </a:r>
            <a:endParaRPr lang="en-US" sz="2600" dirty="0"/>
          </a:p>
        </p:txBody>
      </p:sp>
      <p:sp>
        <p:nvSpPr>
          <p:cNvPr id="8" name="Shape 6"/>
          <p:cNvSpPr/>
          <p:nvPr/>
        </p:nvSpPr>
        <p:spPr>
          <a:xfrm>
            <a:off x="777240" y="2395728"/>
            <a:ext cx="1097280" cy="292608"/>
          </a:xfrm>
          <a:prstGeom prst="roundRect">
            <a:avLst>
              <a:gd name="adj" fmla="val 25000"/>
            </a:avLst>
          </a:prstGeom>
          <a:solidFill>
            <a:srgbClr val="CCEDE9"/>
          </a:solidFill>
          <a:ln w="12700">
            <a:solidFill>
              <a:srgbClr val="FFFFFF"/>
            </a:solidFill>
            <a:prstDash val="solid"/>
          </a:ln>
        </p:spPr>
      </p:sp>
      <p:sp>
        <p:nvSpPr>
          <p:cNvPr id="9" name="Text 7"/>
          <p:cNvSpPr/>
          <p:nvPr/>
        </p:nvSpPr>
        <p:spPr>
          <a:xfrm>
            <a:off x="777240" y="2395728"/>
            <a:ext cx="1097280" cy="292608"/>
          </a:xfrm>
          <a:prstGeom prst="rect">
            <a:avLst/>
          </a:prstGeom>
          <a:noFill/>
          <a:ln/>
        </p:spPr>
        <p:txBody>
          <a:bodyPr wrap="square" lIns="0" tIns="0" rIns="0" bIns="0" rtlCol="0" anchor="ctr"/>
          <a:lstStyle/>
          <a:p>
            <a:pPr marL="0" indent="0" algn="ctr">
              <a:buNone/>
            </a:pPr>
            <a:r>
              <a:rPr lang="en-US" sz="1000" b="1" dirty="0">
                <a:solidFill>
                  <a:srgbClr val="0D5C63"/>
                </a:solidFill>
                <a:latin typeface="Arial" pitchFamily="34" charset="0"/>
                <a:ea typeface="Arial" pitchFamily="34" charset="-122"/>
                <a:cs typeface="Arial" pitchFamily="34" charset="-120"/>
              </a:rPr>
              <a:t>Baseline</a:t>
            </a:r>
            <a:endParaRPr lang="en-US" sz="1000" dirty="0"/>
          </a:p>
        </p:txBody>
      </p:sp>
      <p:sp>
        <p:nvSpPr>
          <p:cNvPr id="10" name="Text 8"/>
          <p:cNvSpPr/>
          <p:nvPr/>
        </p:nvSpPr>
        <p:spPr>
          <a:xfrm>
            <a:off x="429768" y="2788920"/>
            <a:ext cx="1810512" cy="1920240"/>
          </a:xfrm>
          <a:prstGeom prst="rect">
            <a:avLst/>
          </a:prstGeom>
          <a:noFill/>
          <a:ln/>
        </p:spPr>
        <p:txBody>
          <a:bodyPr wrap="square" lIns="0" tIns="0" rIns="0" bIns="0" rtlCol="0" anchor="ctr"/>
          <a:lstStyle/>
          <a:p>
            <a:pPr marL="0" indent="0">
              <a:buNone/>
            </a:pPr>
            <a:r>
              <a:rPr lang="en-US" sz="900" dirty="0">
                <a:solidFill>
                  <a:srgbClr val="0D2B2E"/>
                </a:solidFill>
                <a:latin typeface="Arial" pitchFamily="34" charset="0"/>
                <a:ea typeface="Arial" pitchFamily="34" charset="-122"/>
                <a:cs typeface="Arial" pitchFamily="34" charset="-120"/>
              </a:rPr>
              <a:t>Weighted checklist — each feature gets an odds ratio. Directly interpretable for clinical staff. Establishes the performance floor.</a:t>
            </a:r>
            <a:endParaRPr lang="en-US" sz="900" dirty="0"/>
          </a:p>
        </p:txBody>
      </p:sp>
      <p:sp>
        <p:nvSpPr>
          <p:cNvPr id="11" name="Shape 9"/>
          <p:cNvSpPr/>
          <p:nvPr/>
        </p:nvSpPr>
        <p:spPr>
          <a:xfrm>
            <a:off x="2468880" y="804672"/>
            <a:ext cx="2011680" cy="4114800"/>
          </a:xfrm>
          <a:prstGeom prst="roundRect">
            <a:avLst>
              <a:gd name="adj" fmla="val 5455"/>
            </a:avLst>
          </a:prstGeom>
          <a:solidFill>
            <a:srgbClr val="FFFFFF"/>
          </a:solidFill>
          <a:ln/>
          <a:effectLst>
            <a:outerShdw blurRad="101600" dist="38100" dir="2700000" algn="bl" rotWithShape="0">
              <a:srgbClr val="000000">
                <a:alpha val="12000"/>
              </a:srgbClr>
            </a:outerShdw>
          </a:effectLst>
        </p:spPr>
      </p:sp>
      <p:sp>
        <p:nvSpPr>
          <p:cNvPr id="12" name="Text 10"/>
          <p:cNvSpPr/>
          <p:nvPr/>
        </p:nvSpPr>
        <p:spPr>
          <a:xfrm>
            <a:off x="2560320" y="914400"/>
            <a:ext cx="1828800" cy="594360"/>
          </a:xfrm>
          <a:prstGeom prst="rect">
            <a:avLst/>
          </a:prstGeom>
          <a:noFill/>
          <a:ln/>
        </p:spPr>
        <p:txBody>
          <a:bodyPr wrap="square" lIns="0" tIns="0" rIns="0" bIns="0" rtlCol="0" anchor="ctr"/>
          <a:lstStyle/>
          <a:p>
            <a:pPr marL="0" indent="0" algn="ctr">
              <a:buNone/>
            </a:pPr>
            <a:r>
              <a:rPr lang="en-US" sz="1400" b="1" dirty="0">
                <a:solidFill>
                  <a:srgbClr val="0D5C63"/>
                </a:solidFill>
                <a:latin typeface="Cambria" pitchFamily="34" charset="0"/>
                <a:ea typeface="Cambria" pitchFamily="34" charset="-122"/>
                <a:cs typeface="Cambria" pitchFamily="34" charset="-120"/>
              </a:rPr>
              <a:t>Decision</a:t>
            </a:r>
            <a:endParaRPr lang="en-US" sz="1400" dirty="0"/>
          </a:p>
          <a:p>
            <a:pPr marL="0" indent="0" algn="ctr">
              <a:buNone/>
            </a:pPr>
            <a:r>
              <a:rPr lang="en-US" sz="1400" b="1" dirty="0">
                <a:solidFill>
                  <a:srgbClr val="0D5C63"/>
                </a:solidFill>
                <a:latin typeface="Cambria" pitchFamily="34" charset="0"/>
                <a:ea typeface="Cambria" pitchFamily="34" charset="-122"/>
                <a:cs typeface="Cambria" pitchFamily="34" charset="-120"/>
              </a:rPr>
              <a:t>Tree</a:t>
            </a:r>
            <a:endParaRPr lang="en-US" sz="1400" dirty="0"/>
          </a:p>
        </p:txBody>
      </p:sp>
      <p:sp>
        <p:nvSpPr>
          <p:cNvPr id="13" name="Shape 11"/>
          <p:cNvSpPr/>
          <p:nvPr/>
        </p:nvSpPr>
        <p:spPr>
          <a:xfrm>
            <a:off x="2697480" y="1536192"/>
            <a:ext cx="1554480" cy="0"/>
          </a:xfrm>
          <a:prstGeom prst="line">
            <a:avLst/>
          </a:prstGeom>
          <a:noFill/>
          <a:ln w="12700">
            <a:solidFill>
              <a:srgbClr val="E2E8F0"/>
            </a:solidFill>
            <a:prstDash val="solid"/>
          </a:ln>
        </p:spPr>
      </p:sp>
      <p:sp>
        <p:nvSpPr>
          <p:cNvPr id="14" name="Text 12"/>
          <p:cNvSpPr/>
          <p:nvPr/>
        </p:nvSpPr>
        <p:spPr>
          <a:xfrm>
            <a:off x="2560320" y="1600200"/>
            <a:ext cx="1828800" cy="274320"/>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AUC</a:t>
            </a:r>
            <a:endParaRPr lang="en-US" sz="900" dirty="0"/>
          </a:p>
        </p:txBody>
      </p:sp>
      <p:sp>
        <p:nvSpPr>
          <p:cNvPr id="15" name="Text 13"/>
          <p:cNvSpPr/>
          <p:nvPr/>
        </p:nvSpPr>
        <p:spPr>
          <a:xfrm>
            <a:off x="2560320" y="1847088"/>
            <a:ext cx="1828800" cy="502920"/>
          </a:xfrm>
          <a:prstGeom prst="rect">
            <a:avLst/>
          </a:prstGeom>
          <a:noFill/>
          <a:ln/>
        </p:spPr>
        <p:txBody>
          <a:bodyPr wrap="square" lIns="0" tIns="0" rIns="0" bIns="0" rtlCol="0" anchor="ctr"/>
          <a:lstStyle/>
          <a:p>
            <a:pPr marL="0" indent="0" algn="ctr">
              <a:buNone/>
            </a:pPr>
            <a:r>
              <a:rPr lang="en-US" sz="2600" b="1" dirty="0">
                <a:solidFill>
                  <a:srgbClr val="0D5C63"/>
                </a:solidFill>
                <a:latin typeface="Cambria" pitchFamily="34" charset="0"/>
                <a:ea typeface="Cambria" pitchFamily="34" charset="-122"/>
                <a:cs typeface="Cambria" pitchFamily="34" charset="-120"/>
              </a:rPr>
              <a:t>0.6332</a:t>
            </a:r>
            <a:endParaRPr lang="en-US" sz="2600" dirty="0"/>
          </a:p>
        </p:txBody>
      </p:sp>
      <p:sp>
        <p:nvSpPr>
          <p:cNvPr id="16" name="Shape 14"/>
          <p:cNvSpPr/>
          <p:nvPr/>
        </p:nvSpPr>
        <p:spPr>
          <a:xfrm>
            <a:off x="2926080" y="2395728"/>
            <a:ext cx="1097280" cy="292608"/>
          </a:xfrm>
          <a:prstGeom prst="roundRect">
            <a:avLst>
              <a:gd name="adj" fmla="val 25000"/>
            </a:avLst>
          </a:prstGeom>
          <a:solidFill>
            <a:srgbClr val="CCEDE9"/>
          </a:solidFill>
          <a:ln w="12700">
            <a:solidFill>
              <a:srgbClr val="FFFFFF"/>
            </a:solidFill>
            <a:prstDash val="solid"/>
          </a:ln>
        </p:spPr>
      </p:sp>
      <p:sp>
        <p:nvSpPr>
          <p:cNvPr id="17" name="Text 15"/>
          <p:cNvSpPr/>
          <p:nvPr/>
        </p:nvSpPr>
        <p:spPr>
          <a:xfrm>
            <a:off x="2926080" y="2395728"/>
            <a:ext cx="1097280" cy="292608"/>
          </a:xfrm>
          <a:prstGeom prst="rect">
            <a:avLst/>
          </a:prstGeom>
          <a:noFill/>
          <a:ln/>
        </p:spPr>
        <p:txBody>
          <a:bodyPr wrap="square" lIns="0" tIns="0" rIns="0" bIns="0" rtlCol="0" anchor="ctr"/>
          <a:lstStyle/>
          <a:p>
            <a:pPr marL="0" indent="0" algn="ctr">
              <a:buNone/>
            </a:pPr>
            <a:r>
              <a:rPr lang="en-US" sz="1000" b="1" dirty="0">
                <a:solidFill>
                  <a:srgbClr val="0D5C63"/>
                </a:solidFill>
                <a:latin typeface="Arial" pitchFamily="34" charset="0"/>
                <a:ea typeface="Arial" pitchFamily="34" charset="-122"/>
                <a:cs typeface="Arial" pitchFamily="34" charset="-120"/>
              </a:rPr>
              <a:t>3rd</a:t>
            </a:r>
            <a:endParaRPr lang="en-US" sz="1000" dirty="0"/>
          </a:p>
        </p:txBody>
      </p:sp>
      <p:sp>
        <p:nvSpPr>
          <p:cNvPr id="18" name="Text 16"/>
          <p:cNvSpPr/>
          <p:nvPr/>
        </p:nvSpPr>
        <p:spPr>
          <a:xfrm>
            <a:off x="2578608" y="2788920"/>
            <a:ext cx="1810512" cy="1920240"/>
          </a:xfrm>
          <a:prstGeom prst="rect">
            <a:avLst/>
          </a:prstGeom>
          <a:noFill/>
          <a:ln/>
        </p:spPr>
        <p:txBody>
          <a:bodyPr wrap="square" lIns="0" tIns="0" rIns="0" bIns="0" rtlCol="0" anchor="ctr"/>
          <a:lstStyle/>
          <a:p>
            <a:pPr marL="0" indent="0">
              <a:buNone/>
            </a:pPr>
            <a:r>
              <a:rPr lang="en-US" sz="900" dirty="0">
                <a:solidFill>
                  <a:srgbClr val="0D2B2E"/>
                </a:solidFill>
                <a:latin typeface="Arial" pitchFamily="34" charset="0"/>
                <a:ea typeface="Arial" pitchFamily="34" charset="-122"/>
                <a:cs typeface="Arial" pitchFamily="34" charset="-120"/>
              </a:rPr>
              <a:t>Flowchart of yes/no clinical questions. Max depth = 6. Can be printed as a literal discharge checklist — readable without any software.</a:t>
            </a:r>
            <a:endParaRPr lang="en-US" sz="900" dirty="0"/>
          </a:p>
        </p:txBody>
      </p:sp>
      <p:sp>
        <p:nvSpPr>
          <p:cNvPr id="19" name="Shape 17"/>
          <p:cNvSpPr/>
          <p:nvPr/>
        </p:nvSpPr>
        <p:spPr>
          <a:xfrm>
            <a:off x="4617720" y="804672"/>
            <a:ext cx="2011680" cy="4114800"/>
          </a:xfrm>
          <a:prstGeom prst="roundRect">
            <a:avLst>
              <a:gd name="adj" fmla="val 5455"/>
            </a:avLst>
          </a:prstGeom>
          <a:solidFill>
            <a:srgbClr val="FFFFFF"/>
          </a:solidFill>
          <a:ln/>
          <a:effectLst>
            <a:outerShdw blurRad="101600" dist="38100" dir="2700000" algn="bl" rotWithShape="0">
              <a:srgbClr val="000000">
                <a:alpha val="12000"/>
              </a:srgbClr>
            </a:outerShdw>
          </a:effectLst>
        </p:spPr>
      </p:sp>
      <p:sp>
        <p:nvSpPr>
          <p:cNvPr id="20" name="Text 18"/>
          <p:cNvSpPr/>
          <p:nvPr/>
        </p:nvSpPr>
        <p:spPr>
          <a:xfrm>
            <a:off x="4709160" y="914400"/>
            <a:ext cx="1828800" cy="594360"/>
          </a:xfrm>
          <a:prstGeom prst="rect">
            <a:avLst/>
          </a:prstGeom>
          <a:noFill/>
          <a:ln/>
        </p:spPr>
        <p:txBody>
          <a:bodyPr wrap="square" lIns="0" tIns="0" rIns="0" bIns="0" rtlCol="0" anchor="ctr"/>
          <a:lstStyle/>
          <a:p>
            <a:pPr marL="0" indent="0" algn="ctr">
              <a:buNone/>
            </a:pPr>
            <a:r>
              <a:rPr lang="en-US" sz="1400" b="1" dirty="0">
                <a:solidFill>
                  <a:srgbClr val="0D5C63"/>
                </a:solidFill>
                <a:latin typeface="Cambria" pitchFamily="34" charset="0"/>
                <a:ea typeface="Cambria" pitchFamily="34" charset="-122"/>
                <a:cs typeface="Cambria" pitchFamily="34" charset="-120"/>
              </a:rPr>
              <a:t>Random</a:t>
            </a:r>
            <a:endParaRPr lang="en-US" sz="1400" dirty="0"/>
          </a:p>
          <a:p>
            <a:pPr marL="0" indent="0" algn="ctr">
              <a:buNone/>
            </a:pPr>
            <a:r>
              <a:rPr lang="en-US" sz="1400" b="1" dirty="0">
                <a:solidFill>
                  <a:srgbClr val="0D5C63"/>
                </a:solidFill>
                <a:latin typeface="Cambria" pitchFamily="34" charset="0"/>
                <a:ea typeface="Cambria" pitchFamily="34" charset="-122"/>
                <a:cs typeface="Cambria" pitchFamily="34" charset="-120"/>
              </a:rPr>
              <a:t>Forest</a:t>
            </a:r>
            <a:endParaRPr lang="en-US" sz="1400" dirty="0"/>
          </a:p>
        </p:txBody>
      </p:sp>
      <p:sp>
        <p:nvSpPr>
          <p:cNvPr id="21" name="Shape 19"/>
          <p:cNvSpPr/>
          <p:nvPr/>
        </p:nvSpPr>
        <p:spPr>
          <a:xfrm>
            <a:off x="4846320" y="1536192"/>
            <a:ext cx="1554480" cy="0"/>
          </a:xfrm>
          <a:prstGeom prst="line">
            <a:avLst/>
          </a:prstGeom>
          <a:noFill/>
          <a:ln w="12700">
            <a:solidFill>
              <a:srgbClr val="E2E8F0"/>
            </a:solidFill>
            <a:prstDash val="solid"/>
          </a:ln>
        </p:spPr>
      </p:sp>
      <p:sp>
        <p:nvSpPr>
          <p:cNvPr id="22" name="Text 20"/>
          <p:cNvSpPr/>
          <p:nvPr/>
        </p:nvSpPr>
        <p:spPr>
          <a:xfrm>
            <a:off x="4709160" y="1600200"/>
            <a:ext cx="1828800" cy="274320"/>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AUC</a:t>
            </a:r>
            <a:endParaRPr lang="en-US" sz="900" dirty="0"/>
          </a:p>
        </p:txBody>
      </p:sp>
      <p:sp>
        <p:nvSpPr>
          <p:cNvPr id="23" name="Text 21"/>
          <p:cNvSpPr/>
          <p:nvPr/>
        </p:nvSpPr>
        <p:spPr>
          <a:xfrm>
            <a:off x="4709160" y="1847088"/>
            <a:ext cx="1828800" cy="502920"/>
          </a:xfrm>
          <a:prstGeom prst="rect">
            <a:avLst/>
          </a:prstGeom>
          <a:noFill/>
          <a:ln/>
        </p:spPr>
        <p:txBody>
          <a:bodyPr wrap="square" lIns="0" tIns="0" rIns="0" bIns="0" rtlCol="0" anchor="ctr"/>
          <a:lstStyle/>
          <a:p>
            <a:pPr marL="0" indent="0" algn="ctr">
              <a:buNone/>
            </a:pPr>
            <a:r>
              <a:rPr lang="en-US" sz="2600" b="1" dirty="0">
                <a:solidFill>
                  <a:srgbClr val="0D5C63"/>
                </a:solidFill>
                <a:latin typeface="Cambria" pitchFamily="34" charset="0"/>
                <a:ea typeface="Cambria" pitchFamily="34" charset="-122"/>
                <a:cs typeface="Cambria" pitchFamily="34" charset="-120"/>
              </a:rPr>
              <a:t>0.6480</a:t>
            </a:r>
            <a:endParaRPr lang="en-US" sz="2600" dirty="0"/>
          </a:p>
        </p:txBody>
      </p:sp>
      <p:sp>
        <p:nvSpPr>
          <p:cNvPr id="24" name="Shape 22"/>
          <p:cNvSpPr/>
          <p:nvPr/>
        </p:nvSpPr>
        <p:spPr>
          <a:xfrm>
            <a:off x="5074920" y="2395728"/>
            <a:ext cx="1097280" cy="292608"/>
          </a:xfrm>
          <a:prstGeom prst="roundRect">
            <a:avLst>
              <a:gd name="adj" fmla="val 25000"/>
            </a:avLst>
          </a:prstGeom>
          <a:solidFill>
            <a:srgbClr val="CCEDE9"/>
          </a:solidFill>
          <a:ln w="12700">
            <a:solidFill>
              <a:srgbClr val="FFFFFF"/>
            </a:solidFill>
            <a:prstDash val="solid"/>
          </a:ln>
        </p:spPr>
      </p:sp>
      <p:sp>
        <p:nvSpPr>
          <p:cNvPr id="25" name="Text 23"/>
          <p:cNvSpPr/>
          <p:nvPr/>
        </p:nvSpPr>
        <p:spPr>
          <a:xfrm>
            <a:off x="5074920" y="2395728"/>
            <a:ext cx="1097280" cy="292608"/>
          </a:xfrm>
          <a:prstGeom prst="rect">
            <a:avLst/>
          </a:prstGeom>
          <a:noFill/>
          <a:ln/>
        </p:spPr>
        <p:txBody>
          <a:bodyPr wrap="square" lIns="0" tIns="0" rIns="0" bIns="0" rtlCol="0" anchor="ctr"/>
          <a:lstStyle/>
          <a:p>
            <a:pPr marL="0" indent="0" algn="ctr">
              <a:buNone/>
            </a:pPr>
            <a:r>
              <a:rPr lang="en-US" sz="1000" b="1" dirty="0">
                <a:solidFill>
                  <a:srgbClr val="0D5C63"/>
                </a:solidFill>
                <a:latin typeface="Arial" pitchFamily="34" charset="0"/>
                <a:ea typeface="Arial" pitchFamily="34" charset="-122"/>
                <a:cs typeface="Arial" pitchFamily="34" charset="-120"/>
              </a:rPr>
              <a:t>2nd</a:t>
            </a:r>
            <a:endParaRPr lang="en-US" sz="1000" dirty="0"/>
          </a:p>
        </p:txBody>
      </p:sp>
      <p:sp>
        <p:nvSpPr>
          <p:cNvPr id="26" name="Text 24"/>
          <p:cNvSpPr/>
          <p:nvPr/>
        </p:nvSpPr>
        <p:spPr>
          <a:xfrm>
            <a:off x="4727448" y="2788920"/>
            <a:ext cx="1810512" cy="1920240"/>
          </a:xfrm>
          <a:prstGeom prst="rect">
            <a:avLst/>
          </a:prstGeom>
          <a:noFill/>
          <a:ln/>
        </p:spPr>
        <p:txBody>
          <a:bodyPr wrap="square" lIns="0" tIns="0" rIns="0" bIns="0" rtlCol="0" anchor="ctr"/>
          <a:lstStyle/>
          <a:p>
            <a:pPr marL="0" indent="0">
              <a:buNone/>
            </a:pPr>
            <a:r>
              <a:rPr lang="en-US" sz="900" dirty="0">
                <a:solidFill>
                  <a:srgbClr val="0D2B2E"/>
                </a:solidFill>
                <a:latin typeface="Arial" pitchFamily="34" charset="0"/>
                <a:ea typeface="Arial" pitchFamily="34" charset="-122"/>
                <a:cs typeface="Arial" pitchFamily="34" charset="-120"/>
              </a:rPr>
              <a:t>300 independent trees, each on a random bootstrap sample. sqrt(44) features per split forces diversity. Errors cancel in the average.</a:t>
            </a:r>
            <a:endParaRPr lang="en-US" sz="900" dirty="0"/>
          </a:p>
        </p:txBody>
      </p:sp>
      <p:sp>
        <p:nvSpPr>
          <p:cNvPr id="27" name="Shape 25"/>
          <p:cNvSpPr/>
          <p:nvPr/>
        </p:nvSpPr>
        <p:spPr>
          <a:xfrm>
            <a:off x="6766560" y="804672"/>
            <a:ext cx="2011680" cy="4114800"/>
          </a:xfrm>
          <a:prstGeom prst="roundRect">
            <a:avLst>
              <a:gd name="adj" fmla="val 5455"/>
            </a:avLst>
          </a:prstGeom>
          <a:solidFill>
            <a:srgbClr val="0D5C63"/>
          </a:solidFill>
          <a:ln/>
          <a:effectLst>
            <a:outerShdw blurRad="101600" dist="38100" dir="2700000" algn="bl" rotWithShape="0">
              <a:srgbClr val="000000">
                <a:alpha val="12000"/>
              </a:srgbClr>
            </a:outerShdw>
          </a:effectLst>
        </p:spPr>
      </p:sp>
      <p:sp>
        <p:nvSpPr>
          <p:cNvPr id="28" name="Text 26"/>
          <p:cNvSpPr/>
          <p:nvPr/>
        </p:nvSpPr>
        <p:spPr>
          <a:xfrm>
            <a:off x="6858000" y="914400"/>
            <a:ext cx="1828800" cy="594360"/>
          </a:xfrm>
          <a:prstGeom prst="rect">
            <a:avLst/>
          </a:prstGeom>
          <a:noFill/>
          <a:ln/>
        </p:spPr>
        <p:txBody>
          <a:bodyPr wrap="square" lIns="0" tIns="0" rIns="0" bIns="0" rtlCol="0" anchor="ctr"/>
          <a:lstStyle/>
          <a:p>
            <a:pPr marL="0" indent="0" algn="ctr">
              <a:buNone/>
            </a:pPr>
            <a:r>
              <a:rPr lang="en-US" sz="1400" b="1" dirty="0">
                <a:solidFill>
                  <a:srgbClr val="E0A800"/>
                </a:solidFill>
                <a:latin typeface="Cambria" pitchFamily="34" charset="0"/>
                <a:ea typeface="Cambria" pitchFamily="34" charset="-122"/>
                <a:cs typeface="Cambria" pitchFamily="34" charset="-120"/>
              </a:rPr>
              <a:t>XGBoost</a:t>
            </a:r>
            <a:endParaRPr lang="en-US" sz="1400" dirty="0"/>
          </a:p>
        </p:txBody>
      </p:sp>
      <p:sp>
        <p:nvSpPr>
          <p:cNvPr id="29" name="Shape 27"/>
          <p:cNvSpPr/>
          <p:nvPr/>
        </p:nvSpPr>
        <p:spPr>
          <a:xfrm>
            <a:off x="6995160" y="1536192"/>
            <a:ext cx="1554480" cy="0"/>
          </a:xfrm>
          <a:prstGeom prst="line">
            <a:avLst/>
          </a:prstGeom>
          <a:noFill/>
          <a:ln w="12700">
            <a:solidFill>
              <a:srgbClr val="E0A800"/>
            </a:solidFill>
            <a:prstDash val="solid"/>
          </a:ln>
        </p:spPr>
      </p:sp>
      <p:sp>
        <p:nvSpPr>
          <p:cNvPr id="30" name="Text 28"/>
          <p:cNvSpPr/>
          <p:nvPr/>
        </p:nvSpPr>
        <p:spPr>
          <a:xfrm>
            <a:off x="6858000" y="1600200"/>
            <a:ext cx="1828800" cy="274320"/>
          </a:xfrm>
          <a:prstGeom prst="rect">
            <a:avLst/>
          </a:prstGeom>
          <a:noFill/>
          <a:ln/>
        </p:spPr>
        <p:txBody>
          <a:bodyPr wrap="square" lIns="0" tIns="0" rIns="0" bIns="0" rtlCol="0" anchor="ctr"/>
          <a:lstStyle/>
          <a:p>
            <a:pPr marL="0" indent="0" algn="ctr">
              <a:buNone/>
            </a:pPr>
            <a:r>
              <a:rPr lang="en-US" sz="900" dirty="0">
                <a:solidFill>
                  <a:srgbClr val="CCEDE9"/>
                </a:solidFill>
                <a:latin typeface="Arial" pitchFamily="34" charset="0"/>
                <a:ea typeface="Arial" pitchFamily="34" charset="-122"/>
                <a:cs typeface="Arial" pitchFamily="34" charset="-120"/>
              </a:rPr>
              <a:t>AUC</a:t>
            </a:r>
            <a:endParaRPr lang="en-US" sz="900" dirty="0"/>
          </a:p>
        </p:txBody>
      </p:sp>
      <p:sp>
        <p:nvSpPr>
          <p:cNvPr id="31" name="Text 29"/>
          <p:cNvSpPr/>
          <p:nvPr/>
        </p:nvSpPr>
        <p:spPr>
          <a:xfrm>
            <a:off x="6858000" y="1847088"/>
            <a:ext cx="1828800" cy="502920"/>
          </a:xfrm>
          <a:prstGeom prst="rect">
            <a:avLst/>
          </a:prstGeom>
          <a:noFill/>
          <a:ln/>
        </p:spPr>
        <p:txBody>
          <a:bodyPr wrap="square" lIns="0" tIns="0" rIns="0" bIns="0" rtlCol="0" anchor="ctr"/>
          <a:lstStyle/>
          <a:p>
            <a:pPr marL="0" indent="0" algn="ctr">
              <a:buNone/>
            </a:pPr>
            <a:r>
              <a:rPr lang="en-US" sz="2600" b="1" dirty="0">
                <a:solidFill>
                  <a:srgbClr val="E0A800"/>
                </a:solidFill>
                <a:latin typeface="Cambria" pitchFamily="34" charset="0"/>
                <a:ea typeface="Cambria" pitchFamily="34" charset="-122"/>
                <a:cs typeface="Cambria" pitchFamily="34" charset="-120"/>
              </a:rPr>
              <a:t>0.6588</a:t>
            </a:r>
            <a:endParaRPr lang="en-US" sz="2600" dirty="0"/>
          </a:p>
        </p:txBody>
      </p:sp>
      <p:sp>
        <p:nvSpPr>
          <p:cNvPr id="32" name="Shape 30"/>
          <p:cNvSpPr/>
          <p:nvPr/>
        </p:nvSpPr>
        <p:spPr>
          <a:xfrm>
            <a:off x="7223760" y="2395728"/>
            <a:ext cx="1097280" cy="292608"/>
          </a:xfrm>
          <a:prstGeom prst="roundRect">
            <a:avLst>
              <a:gd name="adj" fmla="val 25000"/>
            </a:avLst>
          </a:prstGeom>
          <a:solidFill>
            <a:srgbClr val="E0A800"/>
          </a:solidFill>
          <a:ln w="12700">
            <a:solidFill>
              <a:srgbClr val="FFFFFF"/>
            </a:solidFill>
            <a:prstDash val="solid"/>
          </a:ln>
        </p:spPr>
      </p:sp>
      <p:sp>
        <p:nvSpPr>
          <p:cNvPr id="33" name="Text 31"/>
          <p:cNvSpPr/>
          <p:nvPr/>
        </p:nvSpPr>
        <p:spPr>
          <a:xfrm>
            <a:off x="7223760" y="2395728"/>
            <a:ext cx="1097280" cy="292608"/>
          </a:xfrm>
          <a:prstGeom prst="rect">
            <a:avLst/>
          </a:prstGeom>
          <a:noFill/>
          <a:ln/>
        </p:spPr>
        <p:txBody>
          <a:bodyPr wrap="square" lIns="0" tIns="0" rIns="0" bIns="0" rtlCol="0" anchor="ctr"/>
          <a:lstStyle/>
          <a:p>
            <a:pPr marL="0" indent="0" algn="ctr">
              <a:buNone/>
            </a:pPr>
            <a:r>
              <a:rPr lang="en-US" sz="1000" b="1" dirty="0">
                <a:solidFill>
                  <a:srgbClr val="0D2B2E"/>
                </a:solidFill>
                <a:latin typeface="Arial" pitchFamily="34" charset="0"/>
                <a:ea typeface="Arial" pitchFamily="34" charset="-122"/>
                <a:cs typeface="Arial" pitchFamily="34" charset="-120"/>
              </a:rPr>
              <a:t>BEST</a:t>
            </a:r>
            <a:endParaRPr lang="en-US" sz="1000" dirty="0"/>
          </a:p>
        </p:txBody>
      </p:sp>
      <p:sp>
        <p:nvSpPr>
          <p:cNvPr id="34" name="Text 32"/>
          <p:cNvSpPr/>
          <p:nvPr/>
        </p:nvSpPr>
        <p:spPr>
          <a:xfrm>
            <a:off x="6876288" y="2788920"/>
            <a:ext cx="1810512" cy="1920240"/>
          </a:xfrm>
          <a:prstGeom prst="rect">
            <a:avLst/>
          </a:prstGeom>
          <a:noFill/>
          <a:ln/>
        </p:spPr>
        <p:txBody>
          <a:bodyPr wrap="square" lIns="0" tIns="0" rIns="0" bIns="0" rtlCol="0" anchor="ctr"/>
          <a:lstStyle/>
          <a:p>
            <a:pPr marL="0" indent="0">
              <a:buNone/>
            </a:pPr>
            <a:r>
              <a:rPr lang="en-US" sz="900" dirty="0">
                <a:solidFill>
                  <a:srgbClr val="D0ECE9"/>
                </a:solidFill>
                <a:latin typeface="Arial" pitchFamily="34" charset="0"/>
                <a:ea typeface="Arial" pitchFamily="34" charset="-122"/>
                <a:cs typeface="Arial" pitchFamily="34" charset="-120"/>
              </a:rPr>
              <a:t>Sequential error-correction: each tree fixes mistakes of all previous trees. scale_pos_weight = 10.35 handles class imbalance natively.</a:t>
            </a:r>
            <a:endParaRPr lang="en-US" sz="900" dirty="0"/>
          </a:p>
        </p:txBody>
      </p:sp>
      <p:sp>
        <p:nvSpPr>
          <p:cNvPr id="35" name="Text 33"/>
          <p:cNvSpPr/>
          <p:nvPr/>
        </p:nvSpPr>
        <p:spPr>
          <a:xfrm>
            <a:off x="320040" y="5010912"/>
            <a:ext cx="8458200" cy="228600"/>
          </a:xfrm>
          <a:prstGeom prst="rect">
            <a:avLst/>
          </a:prstGeom>
          <a:noFill/>
          <a:ln/>
        </p:spPr>
        <p:txBody>
          <a:bodyPr wrap="square" lIns="0" tIns="0" rIns="0" bIns="0" rtlCol="0" anchor="ctr"/>
          <a:lstStyle/>
          <a:p>
            <a:pPr marL="0" indent="0" algn="ctr">
              <a:buNone/>
            </a:pPr>
            <a:r>
              <a:rPr lang="en-US" sz="850" dirty="0">
                <a:solidFill>
                  <a:srgbClr val="64748B"/>
                </a:solidFill>
                <a:latin typeface="Arial" pitchFamily="34" charset="0"/>
                <a:ea typeface="Arial" pitchFamily="34" charset="-122"/>
                <a:cs typeface="Arial" pitchFamily="34" charset="-120"/>
              </a:rPr>
              <a:t>All models: 70/30 stratified split  |  class_weight="balanced"  |  random_state=42  |  Evaluated on identical held-out test set</a:t>
            </a:r>
            <a:endParaRPr lang="en-US" sz="850" dirty="0"/>
          </a:p>
        </p:txBody>
      </p:sp>
      <p:sp>
        <p:nvSpPr>
          <p:cNvPr id="36" name="Shape 34"/>
          <p:cNvSpPr/>
          <p:nvPr/>
        </p:nvSpPr>
        <p:spPr>
          <a:xfrm>
            <a:off x="411480" y="4800600"/>
            <a:ext cx="8321040" cy="0"/>
          </a:xfrm>
          <a:prstGeom prst="line">
            <a:avLst/>
          </a:prstGeom>
          <a:noFill/>
          <a:ln w="12700">
            <a:solidFill>
              <a:srgbClr val="0D9488"/>
            </a:solidFill>
            <a:prstDash val="solid"/>
          </a:ln>
        </p:spPr>
      </p:sp>
      <p:sp>
        <p:nvSpPr>
          <p:cNvPr id="37" name="Text 35"/>
          <p:cNvSpPr/>
          <p:nvPr/>
        </p:nvSpPr>
        <p:spPr>
          <a:xfrm>
            <a:off x="411480" y="4846320"/>
            <a:ext cx="8321040" cy="20116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Akshara Miriyala  |  MS Business Analytics  |  University of Cincinnati  |  BANA 7099 Capstone</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92403"/>
    </mc:Choice>
    <mc:Fallback xmlns="">
      <p:transition spd="slow" advTm="9240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AFA"/>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0D5C63"/>
                </a:solidFill>
                <a:latin typeface="Cambria" pitchFamily="34" charset="0"/>
                <a:ea typeface="Cambria" pitchFamily="34" charset="-122"/>
                <a:cs typeface="Cambria" pitchFamily="34" charset="-120"/>
              </a:rPr>
              <a:t>Model Results &amp; Evaluation</a:t>
            </a:r>
            <a:endParaRPr lang="en-US" sz="2800" dirty="0"/>
          </a:p>
        </p:txBody>
      </p:sp>
      <p:graphicFrame>
        <p:nvGraphicFramePr>
          <p:cNvPr id="3" name="Chart 0"/>
          <p:cNvGraphicFramePr/>
          <p:nvPr/>
        </p:nvGraphicFramePr>
        <p:xfrm>
          <a:off x="411480" y="804672"/>
          <a:ext cx="50292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623560" y="804672"/>
            <a:ext cx="3108960" cy="960120"/>
          </a:xfrm>
          <a:prstGeom prst="roundRect">
            <a:avLst>
              <a:gd name="adj" fmla="val 9524"/>
            </a:avLst>
          </a:prstGeom>
          <a:solidFill>
            <a:srgbClr val="0D5C63"/>
          </a:solidFill>
          <a:ln/>
          <a:effectLst>
            <a:outerShdw blurRad="101600" dist="38100" dir="2700000" algn="bl" rotWithShape="0">
              <a:srgbClr val="000000">
                <a:alpha val="12000"/>
              </a:srgbClr>
            </a:outerShdw>
          </a:effectLst>
        </p:spPr>
      </p:sp>
      <p:sp>
        <p:nvSpPr>
          <p:cNvPr id="5" name="Text 2"/>
          <p:cNvSpPr/>
          <p:nvPr/>
        </p:nvSpPr>
        <p:spPr>
          <a:xfrm>
            <a:off x="5806440" y="877824"/>
            <a:ext cx="2788920" cy="274320"/>
          </a:xfrm>
          <a:prstGeom prst="rect">
            <a:avLst/>
          </a:prstGeom>
          <a:noFill/>
          <a:ln/>
        </p:spPr>
        <p:txBody>
          <a:bodyPr wrap="square" lIns="0" tIns="0" rIns="0" bIns="0" rtlCol="0" anchor="ctr"/>
          <a:lstStyle/>
          <a:p>
            <a:pPr marL="0" indent="0">
              <a:buNone/>
            </a:pPr>
            <a:r>
              <a:rPr lang="en-US" sz="1100" b="1" dirty="0">
                <a:solidFill>
                  <a:srgbClr val="E0A800"/>
                </a:solidFill>
                <a:latin typeface="Arial" pitchFamily="34" charset="0"/>
                <a:ea typeface="Arial" pitchFamily="34" charset="-122"/>
                <a:cs typeface="Arial" pitchFamily="34" charset="-120"/>
              </a:rPr>
              <a:t>XGBoost Wins</a:t>
            </a:r>
            <a:endParaRPr lang="en-US" sz="1100" dirty="0"/>
          </a:p>
        </p:txBody>
      </p:sp>
      <p:sp>
        <p:nvSpPr>
          <p:cNvPr id="6" name="Text 3"/>
          <p:cNvSpPr/>
          <p:nvPr/>
        </p:nvSpPr>
        <p:spPr>
          <a:xfrm>
            <a:off x="5806440" y="1170432"/>
            <a:ext cx="2788920" cy="50292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AUC = 0.6588</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+4.1% over LR baseline</a:t>
            </a:r>
            <a:endParaRPr lang="en-US" sz="950" dirty="0"/>
          </a:p>
        </p:txBody>
      </p:sp>
      <p:sp>
        <p:nvSpPr>
          <p:cNvPr id="7" name="Shape 4"/>
          <p:cNvSpPr/>
          <p:nvPr/>
        </p:nvSpPr>
        <p:spPr>
          <a:xfrm>
            <a:off x="5623560" y="1883664"/>
            <a:ext cx="3108960" cy="960120"/>
          </a:xfrm>
          <a:prstGeom prst="roundRect">
            <a:avLst>
              <a:gd name="adj" fmla="val 9524"/>
            </a:avLst>
          </a:prstGeom>
          <a:solidFill>
            <a:srgbClr val="FFFFFF"/>
          </a:solidFill>
          <a:ln/>
          <a:effectLst>
            <a:outerShdw blurRad="101600" dist="38100" dir="2700000" algn="bl" rotWithShape="0">
              <a:srgbClr val="000000">
                <a:alpha val="12000"/>
              </a:srgbClr>
            </a:outerShdw>
          </a:effectLst>
        </p:spPr>
      </p:sp>
      <p:sp>
        <p:nvSpPr>
          <p:cNvPr id="8" name="Text 5"/>
          <p:cNvSpPr/>
          <p:nvPr/>
        </p:nvSpPr>
        <p:spPr>
          <a:xfrm>
            <a:off x="5806440" y="1956816"/>
            <a:ext cx="2788920" cy="274320"/>
          </a:xfrm>
          <a:prstGeom prst="rect">
            <a:avLst/>
          </a:prstGeom>
          <a:noFill/>
          <a:ln/>
        </p:spPr>
        <p:txBody>
          <a:bodyPr wrap="square" lIns="0" tIns="0" rIns="0" bIns="0" rtlCol="0" anchor="ctr"/>
          <a:lstStyle/>
          <a:p>
            <a:pPr marL="0" indent="0">
              <a:buNone/>
            </a:pPr>
            <a:r>
              <a:rPr lang="en-US" sz="1100" b="1" dirty="0">
                <a:solidFill>
                  <a:srgbClr val="0D5C63"/>
                </a:solidFill>
                <a:latin typeface="Arial" pitchFamily="34" charset="0"/>
                <a:ea typeface="Arial" pitchFamily="34" charset="-122"/>
                <a:cs typeface="Arial" pitchFamily="34" charset="-120"/>
              </a:rPr>
              <a:t>Consistent with Literature</a:t>
            </a:r>
            <a:endParaRPr lang="en-US" sz="1100" dirty="0"/>
          </a:p>
        </p:txBody>
      </p:sp>
      <p:sp>
        <p:nvSpPr>
          <p:cNvPr id="9" name="Text 6"/>
          <p:cNvSpPr/>
          <p:nvPr/>
        </p:nvSpPr>
        <p:spPr>
          <a:xfrm>
            <a:off x="5806440" y="2249424"/>
            <a:ext cx="2788920" cy="502920"/>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AUC 0.61-0.66 is the ceiling for structured EHR data</a:t>
            </a:r>
            <a:endParaRPr lang="en-US" sz="950" dirty="0"/>
          </a:p>
        </p:txBody>
      </p:sp>
      <p:sp>
        <p:nvSpPr>
          <p:cNvPr id="10" name="Shape 7"/>
          <p:cNvSpPr/>
          <p:nvPr/>
        </p:nvSpPr>
        <p:spPr>
          <a:xfrm>
            <a:off x="5623560" y="2962656"/>
            <a:ext cx="3108960" cy="960120"/>
          </a:xfrm>
          <a:prstGeom prst="roundRect">
            <a:avLst>
              <a:gd name="adj" fmla="val 9524"/>
            </a:avLst>
          </a:prstGeom>
          <a:solidFill>
            <a:srgbClr val="FFFFFF"/>
          </a:solidFill>
          <a:ln/>
          <a:effectLst>
            <a:outerShdw blurRad="101600" dist="38100" dir="2700000" algn="bl" rotWithShape="0">
              <a:srgbClr val="000000">
                <a:alpha val="12000"/>
              </a:srgbClr>
            </a:outerShdw>
          </a:effectLst>
        </p:spPr>
      </p:sp>
      <p:sp>
        <p:nvSpPr>
          <p:cNvPr id="11" name="Text 8"/>
          <p:cNvSpPr/>
          <p:nvPr/>
        </p:nvSpPr>
        <p:spPr>
          <a:xfrm>
            <a:off x="5806440" y="3035808"/>
            <a:ext cx="2788920" cy="274320"/>
          </a:xfrm>
          <a:prstGeom prst="rect">
            <a:avLst/>
          </a:prstGeom>
          <a:noFill/>
          <a:ln/>
        </p:spPr>
        <p:txBody>
          <a:bodyPr wrap="square" lIns="0" tIns="0" rIns="0" bIns="0" rtlCol="0" anchor="ctr"/>
          <a:lstStyle/>
          <a:p>
            <a:pPr marL="0" indent="0">
              <a:buNone/>
            </a:pPr>
            <a:r>
              <a:rPr lang="en-US" sz="1100" b="1" dirty="0">
                <a:solidFill>
                  <a:srgbClr val="0D5C63"/>
                </a:solidFill>
                <a:latin typeface="Arial" pitchFamily="34" charset="0"/>
                <a:ea typeface="Arial" pitchFamily="34" charset="-122"/>
                <a:cs typeface="Arial" pitchFamily="34" charset="-120"/>
              </a:rPr>
              <a:t>Why AUC, Not Accuracy?</a:t>
            </a:r>
            <a:endParaRPr lang="en-US" sz="1100" dirty="0"/>
          </a:p>
        </p:txBody>
      </p:sp>
      <p:sp>
        <p:nvSpPr>
          <p:cNvPr id="12" name="Text 9"/>
          <p:cNvSpPr/>
          <p:nvPr/>
        </p:nvSpPr>
        <p:spPr>
          <a:xfrm>
            <a:off x="5806440" y="3328416"/>
            <a:ext cx="2788920" cy="502920"/>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Predicting "No" for everyone = 91.2% accuracy but 0 readmissions caught</a:t>
            </a:r>
            <a:endParaRPr lang="en-US" sz="950" dirty="0"/>
          </a:p>
        </p:txBody>
      </p:sp>
      <p:sp>
        <p:nvSpPr>
          <p:cNvPr id="13" name="Shape 10"/>
          <p:cNvSpPr/>
          <p:nvPr/>
        </p:nvSpPr>
        <p:spPr>
          <a:xfrm>
            <a:off x="5623560" y="4041648"/>
            <a:ext cx="3108960" cy="960120"/>
          </a:xfrm>
          <a:prstGeom prst="roundRect">
            <a:avLst>
              <a:gd name="adj" fmla="val 9524"/>
            </a:avLst>
          </a:prstGeom>
          <a:solidFill>
            <a:srgbClr val="FFFFFF"/>
          </a:solidFill>
          <a:ln/>
          <a:effectLst>
            <a:outerShdw blurRad="101600" dist="38100" dir="2700000" algn="bl" rotWithShape="0">
              <a:srgbClr val="000000">
                <a:alpha val="12000"/>
              </a:srgbClr>
            </a:outerShdw>
          </a:effectLst>
        </p:spPr>
      </p:sp>
      <p:sp>
        <p:nvSpPr>
          <p:cNvPr id="14" name="Text 11"/>
          <p:cNvSpPr/>
          <p:nvPr/>
        </p:nvSpPr>
        <p:spPr>
          <a:xfrm>
            <a:off x="5806440" y="4114800"/>
            <a:ext cx="2788920" cy="274320"/>
          </a:xfrm>
          <a:prstGeom prst="rect">
            <a:avLst/>
          </a:prstGeom>
          <a:noFill/>
          <a:ln/>
        </p:spPr>
        <p:txBody>
          <a:bodyPr wrap="square" lIns="0" tIns="0" rIns="0" bIns="0" rtlCol="0" anchor="ctr"/>
          <a:lstStyle/>
          <a:p>
            <a:pPr marL="0" indent="0">
              <a:buNone/>
            </a:pPr>
            <a:r>
              <a:rPr lang="en-US" sz="1100" b="1" dirty="0">
                <a:solidFill>
                  <a:srgbClr val="0D5C63"/>
                </a:solidFill>
                <a:latin typeface="Arial" pitchFamily="34" charset="0"/>
                <a:ea typeface="Arial" pitchFamily="34" charset="-122"/>
                <a:cs typeface="Arial" pitchFamily="34" charset="-120"/>
              </a:rPr>
              <a:t>Sensitivity Focus</a:t>
            </a:r>
            <a:endParaRPr lang="en-US" sz="1100" dirty="0"/>
          </a:p>
        </p:txBody>
      </p:sp>
      <p:sp>
        <p:nvSpPr>
          <p:cNvPr id="15" name="Text 12"/>
          <p:cNvSpPr/>
          <p:nvPr/>
        </p:nvSpPr>
        <p:spPr>
          <a:xfrm>
            <a:off x="5806440" y="4407408"/>
            <a:ext cx="2788920" cy="502920"/>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Clinically, missing a high-risk patient is more costly than a false alarm</a:t>
            </a:r>
            <a:endParaRPr lang="en-US" sz="950" dirty="0"/>
          </a:p>
        </p:txBody>
      </p:sp>
      <p:sp>
        <p:nvSpPr>
          <p:cNvPr id="16" name="Shape 13"/>
          <p:cNvSpPr/>
          <p:nvPr/>
        </p:nvSpPr>
        <p:spPr>
          <a:xfrm>
            <a:off x="411480" y="4800600"/>
            <a:ext cx="8321040" cy="0"/>
          </a:xfrm>
          <a:prstGeom prst="line">
            <a:avLst/>
          </a:prstGeom>
          <a:noFill/>
          <a:ln w="12700">
            <a:solidFill>
              <a:srgbClr val="0D9488"/>
            </a:solidFill>
            <a:prstDash val="solid"/>
          </a:ln>
        </p:spPr>
      </p:sp>
      <p:sp>
        <p:nvSpPr>
          <p:cNvPr id="17" name="Text 14"/>
          <p:cNvSpPr/>
          <p:nvPr/>
        </p:nvSpPr>
        <p:spPr>
          <a:xfrm>
            <a:off x="411480" y="4846320"/>
            <a:ext cx="8321040" cy="20116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Akshara Miriyala  |  MS Business Analytics  |  University of Cincinnati  |  BANA 7099 Capstone</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44652"/>
    </mc:Choice>
    <mc:Fallback xmlns="">
      <p:transition spd="slow" advTm="4465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A"/>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0D5C63"/>
                </a:solidFill>
                <a:latin typeface="Cambria" pitchFamily="34" charset="0"/>
                <a:ea typeface="Cambria" pitchFamily="34" charset="-122"/>
                <a:cs typeface="Cambria" pitchFamily="34" charset="-120"/>
              </a:rPr>
              <a:t>What Drives Readmission? — Variable Importance</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804672"/>
          <a:ext cx="8321040" cy="3246117"/>
        </p:xfrm>
        <a:graphic>
          <a:graphicData uri="http://schemas.openxmlformats.org/drawingml/2006/table">
            <a:tbl>
              <a:tblPr/>
              <a:tblGrid>
                <a:gridCol w="18288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4251960">
                  <a:extLst>
                    <a:ext uri="{9D8B030D-6E8A-4147-A177-3AD203B41FA5}">
                      <a16:colId xmlns:a16="http://schemas.microsoft.com/office/drawing/2014/main" val="20003"/>
                    </a:ext>
                  </a:extLst>
                </a:gridCol>
              </a:tblGrid>
              <a:tr h="463731">
                <a:tc>
                  <a:txBody>
                    <a:bodyPr/>
                    <a:lstStyle/>
                    <a:p>
                      <a:pPr marL="0" indent="0">
                        <a:buNone/>
                      </a:pPr>
                      <a:r>
                        <a:rPr lang="en-US" sz="1000" b="1" dirty="0">
                          <a:solidFill>
                            <a:srgbClr val="FFFFFF"/>
                          </a:solidFill>
                          <a:latin typeface="Arial" pitchFamily="34" charset="0"/>
                          <a:ea typeface="Arial" pitchFamily="34" charset="-122"/>
                          <a:cs typeface="Arial" pitchFamily="34" charset="-120"/>
                        </a:rPr>
                        <a:t>Feature</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5C63"/>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RF Rank</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5C63"/>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XGBoost Rank</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5C63"/>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Clinical Meaning</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5C63"/>
                    </a:solidFill>
                  </a:tcPr>
                </a:tc>
                <a:extLst>
                  <a:ext uri="{0D108BD9-81ED-4DB2-BD59-A6C34878D82A}">
                    <a16:rowId xmlns:a16="http://schemas.microsoft.com/office/drawing/2014/main" val="10000"/>
                  </a:ext>
                </a:extLst>
              </a:tr>
              <a:tr h="463731">
                <a:tc>
                  <a:txBody>
                    <a:bodyPr/>
                    <a:lstStyle/>
                    <a:p>
                      <a:pPr marL="0" indent="0">
                        <a:buNone/>
                      </a:pPr>
                      <a:r>
                        <a:rPr lang="en-US" sz="1000" dirty="0">
                          <a:solidFill>
                            <a:srgbClr val="000000"/>
                          </a:solidFill>
                          <a:latin typeface="Arial" pitchFamily="34" charset="0"/>
                          <a:ea typeface="Arial" pitchFamily="34" charset="-122"/>
                          <a:cs typeface="Arial" pitchFamily="34" charset="-120"/>
                        </a:rPr>
                        <a:t>num_lab_procedures</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5</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5</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Reflects disease complexity — more tests = sicker patient</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3731">
                <a:tc>
                  <a:txBody>
                    <a:bodyPr/>
                    <a:lstStyle/>
                    <a:p>
                      <a:pPr marL="0" indent="0">
                        <a:buNone/>
                      </a:pPr>
                      <a:r>
                        <a:rPr lang="en-US" sz="1000" dirty="0">
                          <a:solidFill>
                            <a:srgbClr val="000000"/>
                          </a:solidFill>
                          <a:latin typeface="Arial" pitchFamily="34" charset="0"/>
                          <a:ea typeface="Arial" pitchFamily="34" charset="-122"/>
                          <a:cs typeface="Arial" pitchFamily="34" charset="-120"/>
                        </a:rPr>
                        <a:t>num_medications</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5</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5</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More meds = higher comorbidity burden, higher readmission risk</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3731">
                <a:tc>
                  <a:txBody>
                    <a:bodyPr/>
                    <a:lstStyle/>
                    <a:p>
                      <a:pPr marL="0" indent="0">
                        <a:buNone/>
                      </a:pPr>
                      <a:r>
                        <a:rPr lang="en-US" sz="1000" dirty="0">
                          <a:solidFill>
                            <a:srgbClr val="000000"/>
                          </a:solidFill>
                          <a:latin typeface="Arial" pitchFamily="34" charset="0"/>
                          <a:ea typeface="Arial" pitchFamily="34" charset="-122"/>
                          <a:cs typeface="Arial" pitchFamily="34" charset="-120"/>
                        </a:rPr>
                        <a:t>time_in_hospital</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5</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5</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Longer stays signal more severe illness at discharge</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3731">
                <a:tc>
                  <a:txBody>
                    <a:bodyPr/>
                    <a:lstStyle/>
                    <a:p>
                      <a:pPr marL="0" indent="0">
                        <a:buNone/>
                      </a:pPr>
                      <a:r>
                        <a:rPr lang="en-US" sz="1000" dirty="0">
                          <a:solidFill>
                            <a:srgbClr val="000000"/>
                          </a:solidFill>
                          <a:latin typeface="Arial" pitchFamily="34" charset="0"/>
                          <a:ea typeface="Arial" pitchFamily="34" charset="-122"/>
                          <a:cs typeface="Arial" pitchFamily="34" charset="-120"/>
                        </a:rPr>
                        <a:t>number_diagnoses</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5</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5</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Total diagnoses = comorbidity count, strong independent predictor</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3731">
                <a:tc>
                  <a:txBody>
                    <a:bodyPr/>
                    <a:lstStyle/>
                    <a:p>
                      <a:pPr marL="0" indent="0">
                        <a:buNone/>
                      </a:pPr>
                      <a:r>
                        <a:rPr lang="en-US" sz="1000" dirty="0">
                          <a:solidFill>
                            <a:srgbClr val="000000"/>
                          </a:solidFill>
                          <a:latin typeface="Arial" pitchFamily="34" charset="0"/>
                          <a:ea typeface="Arial" pitchFamily="34" charset="-122"/>
                          <a:cs typeface="Arial" pitchFamily="34" charset="-120"/>
                        </a:rPr>
                        <a:t>discharge_disposition</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10</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10</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Discharge destination significantly changes post-discharge follow-up</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3731">
                <a:tc>
                  <a:txBody>
                    <a:bodyPr/>
                    <a:lstStyle/>
                    <a:p>
                      <a:pPr marL="0" indent="0">
                        <a:buNone/>
                      </a:pPr>
                      <a:r>
                        <a:rPr lang="en-US" sz="1000" dirty="0">
                          <a:solidFill>
                            <a:srgbClr val="000000"/>
                          </a:solidFill>
                          <a:latin typeface="Arial" pitchFamily="34" charset="0"/>
                          <a:ea typeface="Arial" pitchFamily="34" charset="-122"/>
                          <a:cs typeface="Arial" pitchFamily="34" charset="-120"/>
                        </a:rPr>
                        <a:t>insulin</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10</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Top 10</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Whether insulin was changed at discharge — directly actionable</a:t>
                      </a:r>
                      <a:endParaRPr lang="en-US" sz="1000" dirty="0">
                        <a:latin typeface="Arial" charset="0"/>
                        <a:ea typeface="Arial" charset="0"/>
                        <a:cs typeface="Arial"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Shape 1"/>
          <p:cNvSpPr/>
          <p:nvPr/>
        </p:nvSpPr>
        <p:spPr>
          <a:xfrm>
            <a:off x="411480" y="4187952"/>
            <a:ext cx="8321040" cy="685800"/>
          </a:xfrm>
          <a:prstGeom prst="roundRect">
            <a:avLst>
              <a:gd name="adj" fmla="val 13333"/>
            </a:avLst>
          </a:prstGeom>
          <a:solidFill>
            <a:srgbClr val="0D5C63"/>
          </a:solidFill>
          <a:ln/>
          <a:effectLst>
            <a:outerShdw blurRad="101600" dist="38100" dir="2700000" algn="bl" rotWithShape="0">
              <a:srgbClr val="000000">
                <a:alpha val="12000"/>
              </a:srgbClr>
            </a:outerShdw>
          </a:effectLst>
        </p:spPr>
      </p:sp>
      <p:sp>
        <p:nvSpPr>
          <p:cNvPr id="5" name="Text 2"/>
          <p:cNvSpPr/>
          <p:nvPr/>
        </p:nvSpPr>
        <p:spPr>
          <a:xfrm>
            <a:off x="594360" y="4187952"/>
            <a:ext cx="8046720" cy="685800"/>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Key Finding: </a:t>
            </a:r>
            <a:r>
              <a:rPr lang="en-US" sz="1050" dirty="0">
                <a:solidFill>
                  <a:srgbClr val="FFFFFF"/>
                </a:solidFill>
                <a:latin typeface="Arial" pitchFamily="34" charset="0"/>
                <a:ea typeface="Arial" pitchFamily="34" charset="-122"/>
                <a:cs typeface="Arial" pitchFamily="34" charset="-120"/>
              </a:rPr>
              <a:t>Features ranked in the top 10 by BOTH Random Forest and XGBoost are the most reliable predictors. Agreement between two different algorithms eliminates model-specific artifacts — these are genuine drivers of readmission risk, not statistical noise.</a:t>
            </a:r>
            <a:endParaRPr lang="en-US" sz="1050" dirty="0"/>
          </a:p>
        </p:txBody>
      </p:sp>
      <p:sp>
        <p:nvSpPr>
          <p:cNvPr id="6" name="Shape 3"/>
          <p:cNvSpPr/>
          <p:nvPr/>
        </p:nvSpPr>
        <p:spPr>
          <a:xfrm>
            <a:off x="411480" y="4800600"/>
            <a:ext cx="8321040" cy="0"/>
          </a:xfrm>
          <a:prstGeom prst="line">
            <a:avLst/>
          </a:prstGeom>
          <a:noFill/>
          <a:ln w="12700">
            <a:solidFill>
              <a:srgbClr val="0D9488"/>
            </a:solidFill>
            <a:prstDash val="solid"/>
          </a:ln>
        </p:spPr>
      </p:sp>
      <p:sp>
        <p:nvSpPr>
          <p:cNvPr id="7" name="Text 4"/>
          <p:cNvSpPr/>
          <p:nvPr/>
        </p:nvSpPr>
        <p:spPr>
          <a:xfrm>
            <a:off x="411480" y="4846320"/>
            <a:ext cx="8321040" cy="20116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Akshara Miriyala  |  MS Business Analytics  |  University of Cincinnati  |  BANA 7099 Capstone</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44099"/>
    </mc:Choice>
    <mc:Fallback xmlns="">
      <p:transition spd="slow" advTm="4409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AFA"/>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0D5C63"/>
                </a:solidFill>
                <a:latin typeface="Cambria" pitchFamily="34" charset="0"/>
                <a:ea typeface="Cambria" pitchFamily="34" charset="-122"/>
                <a:cs typeface="Cambria" pitchFamily="34" charset="-120"/>
              </a:rPr>
              <a:t>Prescriptive Clinical Recommendations</a:t>
            </a:r>
            <a:endParaRPr lang="en-US" sz="2800" dirty="0"/>
          </a:p>
        </p:txBody>
      </p:sp>
      <p:sp>
        <p:nvSpPr>
          <p:cNvPr id="3" name="Shape 1"/>
          <p:cNvSpPr/>
          <p:nvPr/>
        </p:nvSpPr>
        <p:spPr>
          <a:xfrm>
            <a:off x="411480" y="804672"/>
            <a:ext cx="8321040" cy="365760"/>
          </a:xfrm>
          <a:prstGeom prst="roundRect">
            <a:avLst>
              <a:gd name="adj" fmla="val 20000"/>
            </a:avLst>
          </a:prstGeom>
          <a:solidFill>
            <a:srgbClr val="0D5C63"/>
          </a:solidFill>
          <a:ln w="12700">
            <a:solidFill>
              <a:srgbClr val="0D5C63"/>
            </a:solidFill>
            <a:prstDash val="solid"/>
          </a:ln>
        </p:spPr>
      </p:sp>
      <p:sp>
        <p:nvSpPr>
          <p:cNvPr id="4" name="Text 2"/>
          <p:cNvSpPr/>
          <p:nvPr/>
        </p:nvSpPr>
        <p:spPr>
          <a:xfrm>
            <a:off x="411480" y="804672"/>
            <a:ext cx="832104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Derived from 71,515 patient records — validated by Random Forest + XGBoost variable importance</a:t>
            </a:r>
            <a:endParaRPr lang="en-US" sz="1000" dirty="0"/>
          </a:p>
        </p:txBody>
      </p:sp>
      <p:sp>
        <p:nvSpPr>
          <p:cNvPr id="5" name="Shape 3"/>
          <p:cNvSpPr/>
          <p:nvPr/>
        </p:nvSpPr>
        <p:spPr>
          <a:xfrm>
            <a:off x="411480" y="1280160"/>
            <a:ext cx="4069080" cy="1664208"/>
          </a:xfrm>
          <a:prstGeom prst="roundRect">
            <a:avLst>
              <a:gd name="adj" fmla="val 6593"/>
            </a:avLst>
          </a:prstGeom>
          <a:solidFill>
            <a:srgbClr val="FFFFFF"/>
          </a:solidFill>
          <a:ln/>
          <a:effectLst>
            <a:outerShdw blurRad="101600" dist="38100" dir="2700000" algn="bl" rotWithShape="0">
              <a:srgbClr val="000000">
                <a:alpha val="12000"/>
              </a:srgbClr>
            </a:outerShdw>
          </a:effectLst>
        </p:spPr>
      </p:sp>
      <p:sp>
        <p:nvSpPr>
          <p:cNvPr id="6" name="Shape 4"/>
          <p:cNvSpPr/>
          <p:nvPr/>
        </p:nvSpPr>
        <p:spPr>
          <a:xfrm>
            <a:off x="521208" y="1389888"/>
            <a:ext cx="365760" cy="365760"/>
          </a:xfrm>
          <a:prstGeom prst="ellipse">
            <a:avLst/>
          </a:prstGeom>
          <a:solidFill>
            <a:srgbClr val="0D5C63"/>
          </a:solidFill>
          <a:ln w="12700">
            <a:solidFill>
              <a:srgbClr val="0D5C63"/>
            </a:solidFill>
            <a:prstDash val="solid"/>
          </a:ln>
        </p:spPr>
      </p:sp>
      <p:sp>
        <p:nvSpPr>
          <p:cNvPr id="7" name="Text 5"/>
          <p:cNvSpPr/>
          <p:nvPr/>
        </p:nvSpPr>
        <p:spPr>
          <a:xfrm>
            <a:off x="521208" y="13898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sp>
        <p:nvSpPr>
          <p:cNvPr id="8" name="Text 6"/>
          <p:cNvSpPr/>
          <p:nvPr/>
        </p:nvSpPr>
        <p:spPr>
          <a:xfrm>
            <a:off x="978408" y="1389888"/>
            <a:ext cx="3410712"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Hospital Stay ≥ 5 Days</a:t>
            </a:r>
            <a:endParaRPr lang="en-US" sz="1200" dirty="0"/>
          </a:p>
        </p:txBody>
      </p:sp>
      <p:sp>
        <p:nvSpPr>
          <p:cNvPr id="9" name="Shape 7"/>
          <p:cNvSpPr/>
          <p:nvPr/>
        </p:nvSpPr>
        <p:spPr>
          <a:xfrm>
            <a:off x="521208" y="1773936"/>
            <a:ext cx="3840480" cy="0"/>
          </a:xfrm>
          <a:prstGeom prst="line">
            <a:avLst/>
          </a:prstGeom>
          <a:noFill/>
          <a:ln w="9525">
            <a:solidFill>
              <a:srgbClr val="E2E8F0"/>
            </a:solidFill>
            <a:prstDash val="solid"/>
          </a:ln>
        </p:spPr>
      </p:sp>
      <p:sp>
        <p:nvSpPr>
          <p:cNvPr id="10" name="Text 8"/>
          <p:cNvSpPr/>
          <p:nvPr/>
        </p:nvSpPr>
        <p:spPr>
          <a:xfrm>
            <a:off x="521208" y="1828800"/>
            <a:ext cx="1828800" cy="1005840"/>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6.4% → 12.0%</a:t>
            </a:r>
            <a:endParaRPr lang="en-US" sz="900" dirty="0"/>
          </a:p>
          <a:p>
            <a:pPr marL="0" indent="0">
              <a:buNone/>
            </a:pPr>
            <a:r>
              <a:rPr lang="en-US" sz="900" dirty="0">
                <a:solidFill>
                  <a:srgbClr val="64748B"/>
                </a:solidFill>
                <a:latin typeface="Arial" pitchFamily="34" charset="0"/>
                <a:ea typeface="Arial" pitchFamily="34" charset="-122"/>
                <a:cs typeface="Arial" pitchFamily="34" charset="-120"/>
              </a:rPr>
              <a:t>Readmission risk DOUBLES from 1-day to 8-day stays</a:t>
            </a:r>
            <a:endParaRPr lang="en-US" sz="900" dirty="0"/>
          </a:p>
        </p:txBody>
      </p:sp>
      <p:sp>
        <p:nvSpPr>
          <p:cNvPr id="11" name="Shape 9"/>
          <p:cNvSpPr/>
          <p:nvPr/>
        </p:nvSpPr>
        <p:spPr>
          <a:xfrm>
            <a:off x="2404872" y="1828800"/>
            <a:ext cx="0" cy="960120"/>
          </a:xfrm>
          <a:prstGeom prst="line">
            <a:avLst/>
          </a:prstGeom>
          <a:noFill/>
          <a:ln w="9525">
            <a:solidFill>
              <a:srgbClr val="E2E8F0"/>
            </a:solidFill>
            <a:prstDash val="solid"/>
          </a:ln>
        </p:spPr>
      </p:sp>
      <p:sp>
        <p:nvSpPr>
          <p:cNvPr id="12" name="Text 10"/>
          <p:cNvSpPr/>
          <p:nvPr/>
        </p:nvSpPr>
        <p:spPr>
          <a:xfrm>
            <a:off x="2514600" y="1828800"/>
            <a:ext cx="1856232" cy="1005840"/>
          </a:xfrm>
          <a:prstGeom prst="rect">
            <a:avLst/>
          </a:prstGeom>
          <a:noFill/>
          <a:ln/>
        </p:spPr>
        <p:txBody>
          <a:bodyPr wrap="square" lIns="0" tIns="0" rIns="0" bIns="0" rtlCol="0" anchor="ctr"/>
          <a:lstStyle/>
          <a:p>
            <a:pPr marL="0" indent="0">
              <a:buNone/>
            </a:pPr>
            <a:r>
              <a:rPr lang="en-US" sz="900" dirty="0">
                <a:solidFill>
                  <a:srgbClr val="0D2B2E"/>
                </a:solidFill>
                <a:latin typeface="Arial" pitchFamily="34" charset="0"/>
                <a:ea typeface="Arial" pitchFamily="34" charset="-122"/>
                <a:cs typeface="Arial" pitchFamily="34" charset="-120"/>
              </a:rPr>
              <a:t>Flag for enhanced discharge planning:</a:t>
            </a:r>
            <a:endParaRPr lang="en-US" sz="900" dirty="0"/>
          </a:p>
          <a:p>
            <a:pPr marL="0" indent="0">
              <a:buNone/>
            </a:pPr>
            <a:r>
              <a:rPr lang="en-US" sz="900" dirty="0">
                <a:solidFill>
                  <a:srgbClr val="0D2B2E"/>
                </a:solidFill>
                <a:latin typeface="Arial" pitchFamily="34" charset="0"/>
                <a:ea typeface="Arial" pitchFamily="34" charset="-122"/>
                <a:cs typeface="Arial" pitchFamily="34" charset="-120"/>
              </a:rPr>
              <a:t>Mandatory follow-up appt before leaving</a:t>
            </a:r>
            <a:endParaRPr lang="en-US" sz="900" dirty="0"/>
          </a:p>
          <a:p>
            <a:pPr marL="0" indent="0">
              <a:buNone/>
            </a:pPr>
            <a:r>
              <a:rPr lang="en-US" sz="900" dirty="0">
                <a:solidFill>
                  <a:srgbClr val="0D2B2E"/>
                </a:solidFill>
                <a:latin typeface="Arial" pitchFamily="34" charset="0"/>
                <a:ea typeface="Arial" pitchFamily="34" charset="-122"/>
                <a:cs typeface="Arial" pitchFamily="34" charset="-120"/>
              </a:rPr>
              <a:t>Home health referral assessment</a:t>
            </a:r>
            <a:endParaRPr lang="en-US" sz="900" dirty="0"/>
          </a:p>
          <a:p>
            <a:pPr marL="0" indent="0">
              <a:buNone/>
            </a:pPr>
            <a:r>
              <a:rPr lang="en-US" sz="900" dirty="0">
                <a:solidFill>
                  <a:srgbClr val="0D2B2E"/>
                </a:solidFill>
                <a:latin typeface="Arial" pitchFamily="34" charset="0"/>
                <a:ea typeface="Arial" pitchFamily="34" charset="-122"/>
                <a:cs typeface="Arial" pitchFamily="34" charset="-120"/>
              </a:rPr>
              <a:t>Medication reconciliation review</a:t>
            </a:r>
            <a:endParaRPr lang="en-US" sz="900" dirty="0"/>
          </a:p>
        </p:txBody>
      </p:sp>
      <p:sp>
        <p:nvSpPr>
          <p:cNvPr id="13" name="Shape 11"/>
          <p:cNvSpPr/>
          <p:nvPr/>
        </p:nvSpPr>
        <p:spPr>
          <a:xfrm>
            <a:off x="4663440" y="1280160"/>
            <a:ext cx="4069080" cy="1664208"/>
          </a:xfrm>
          <a:prstGeom prst="roundRect">
            <a:avLst>
              <a:gd name="adj" fmla="val 6593"/>
            </a:avLst>
          </a:prstGeom>
          <a:solidFill>
            <a:srgbClr val="FFFFFF"/>
          </a:solidFill>
          <a:ln/>
          <a:effectLst>
            <a:outerShdw blurRad="101600" dist="38100" dir="2700000" algn="bl" rotWithShape="0">
              <a:srgbClr val="000000">
                <a:alpha val="12000"/>
              </a:srgbClr>
            </a:outerShdw>
          </a:effectLst>
        </p:spPr>
      </p:sp>
      <p:sp>
        <p:nvSpPr>
          <p:cNvPr id="14" name="Shape 12"/>
          <p:cNvSpPr/>
          <p:nvPr/>
        </p:nvSpPr>
        <p:spPr>
          <a:xfrm>
            <a:off x="4773168" y="1389888"/>
            <a:ext cx="365760" cy="365760"/>
          </a:xfrm>
          <a:prstGeom prst="ellipse">
            <a:avLst/>
          </a:prstGeom>
          <a:solidFill>
            <a:srgbClr val="0D5C63"/>
          </a:solidFill>
          <a:ln w="12700">
            <a:solidFill>
              <a:srgbClr val="0D5C63"/>
            </a:solidFill>
            <a:prstDash val="solid"/>
          </a:ln>
        </p:spPr>
      </p:sp>
      <p:sp>
        <p:nvSpPr>
          <p:cNvPr id="15" name="Text 13"/>
          <p:cNvSpPr/>
          <p:nvPr/>
        </p:nvSpPr>
        <p:spPr>
          <a:xfrm>
            <a:off x="4773168" y="13898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sp>
        <p:nvSpPr>
          <p:cNvPr id="16" name="Text 14"/>
          <p:cNvSpPr/>
          <p:nvPr/>
        </p:nvSpPr>
        <p:spPr>
          <a:xfrm>
            <a:off x="5230368" y="1389888"/>
            <a:ext cx="3410712"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Mandate A1C Testing</a:t>
            </a:r>
            <a:endParaRPr lang="en-US" sz="1200" dirty="0"/>
          </a:p>
        </p:txBody>
      </p:sp>
      <p:sp>
        <p:nvSpPr>
          <p:cNvPr id="17" name="Shape 15"/>
          <p:cNvSpPr/>
          <p:nvPr/>
        </p:nvSpPr>
        <p:spPr>
          <a:xfrm>
            <a:off x="4773168" y="1773936"/>
            <a:ext cx="3840480" cy="0"/>
          </a:xfrm>
          <a:prstGeom prst="line">
            <a:avLst/>
          </a:prstGeom>
          <a:noFill/>
          <a:ln w="9525">
            <a:solidFill>
              <a:srgbClr val="E2E8F0"/>
            </a:solidFill>
            <a:prstDash val="solid"/>
          </a:ln>
        </p:spPr>
      </p:sp>
      <p:sp>
        <p:nvSpPr>
          <p:cNvPr id="18" name="Text 16"/>
          <p:cNvSpPr/>
          <p:nvPr/>
        </p:nvSpPr>
        <p:spPr>
          <a:xfrm>
            <a:off x="4773168" y="1828800"/>
            <a:ext cx="1828800" cy="1005840"/>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Patients tested: 8.1-8.5% readmission</a:t>
            </a:r>
            <a:endParaRPr lang="en-US" sz="900" dirty="0"/>
          </a:p>
          <a:p>
            <a:pPr marL="0" indent="0">
              <a:buNone/>
            </a:pPr>
            <a:r>
              <a:rPr lang="en-US" sz="900" dirty="0">
                <a:solidFill>
                  <a:srgbClr val="64748B"/>
                </a:solidFill>
                <a:latin typeface="Arial" pitchFamily="34" charset="0"/>
                <a:ea typeface="Arial" pitchFamily="34" charset="-122"/>
                <a:cs typeface="Arial" pitchFamily="34" charset="-120"/>
              </a:rPr>
              <a:t>Patients NOT tested: missed opportunity</a:t>
            </a:r>
            <a:endParaRPr lang="en-US" sz="900" dirty="0"/>
          </a:p>
        </p:txBody>
      </p:sp>
      <p:sp>
        <p:nvSpPr>
          <p:cNvPr id="19" name="Shape 17"/>
          <p:cNvSpPr/>
          <p:nvPr/>
        </p:nvSpPr>
        <p:spPr>
          <a:xfrm>
            <a:off x="6656832" y="1828800"/>
            <a:ext cx="0" cy="960120"/>
          </a:xfrm>
          <a:prstGeom prst="line">
            <a:avLst/>
          </a:prstGeom>
          <a:noFill/>
          <a:ln w="9525">
            <a:solidFill>
              <a:srgbClr val="E2E8F0"/>
            </a:solidFill>
            <a:prstDash val="solid"/>
          </a:ln>
        </p:spPr>
      </p:sp>
      <p:sp>
        <p:nvSpPr>
          <p:cNvPr id="20" name="Text 18"/>
          <p:cNvSpPr/>
          <p:nvPr/>
        </p:nvSpPr>
        <p:spPr>
          <a:xfrm>
            <a:off x="6766560" y="1828800"/>
            <a:ext cx="1856232" cy="1005840"/>
          </a:xfrm>
          <a:prstGeom prst="rect">
            <a:avLst/>
          </a:prstGeom>
          <a:noFill/>
          <a:ln/>
        </p:spPr>
        <p:txBody>
          <a:bodyPr wrap="square" lIns="0" tIns="0" rIns="0" bIns="0" rtlCol="0" anchor="ctr"/>
          <a:lstStyle/>
          <a:p>
            <a:pPr marL="0" indent="0">
              <a:buNone/>
            </a:pPr>
            <a:r>
              <a:rPr lang="en-US" sz="900" dirty="0">
                <a:solidFill>
                  <a:srgbClr val="0D2B2E"/>
                </a:solidFill>
                <a:latin typeface="Arial" pitchFamily="34" charset="0"/>
                <a:ea typeface="Arial" pitchFamily="34" charset="-122"/>
                <a:cs typeface="Arial" pitchFamily="34" charset="-120"/>
              </a:rPr>
              <a:t>Order A1C for ALL diabetic discharges</a:t>
            </a:r>
            <a:endParaRPr lang="en-US" sz="900" dirty="0"/>
          </a:p>
          <a:p>
            <a:pPr marL="0" indent="0">
              <a:buNone/>
            </a:pPr>
            <a:r>
              <a:rPr lang="en-US" sz="900" dirty="0">
                <a:solidFill>
                  <a:srgbClr val="0D2B2E"/>
                </a:solidFill>
                <a:latin typeface="Arial" pitchFamily="34" charset="0"/>
                <a:ea typeface="Arial" pitchFamily="34" charset="-122"/>
                <a:cs typeface="Arial" pitchFamily="34" charset="-120"/>
              </a:rPr>
              <a:t>The act of testing enables treatment</a:t>
            </a:r>
            <a:endParaRPr lang="en-US" sz="900" dirty="0"/>
          </a:p>
          <a:p>
            <a:pPr marL="0" indent="0">
              <a:buNone/>
            </a:pPr>
            <a:r>
              <a:rPr lang="en-US" sz="900" dirty="0">
                <a:solidFill>
                  <a:srgbClr val="0D2B2E"/>
                </a:solidFill>
                <a:latin typeface="Arial" pitchFamily="34" charset="0"/>
                <a:ea typeface="Arial" pitchFamily="34" charset="-122"/>
                <a:cs typeface="Arial" pitchFamily="34" charset="-120"/>
              </a:rPr>
              <a:t>adjustment before the patient leaves</a:t>
            </a:r>
            <a:endParaRPr lang="en-US" sz="900" dirty="0"/>
          </a:p>
        </p:txBody>
      </p:sp>
      <p:sp>
        <p:nvSpPr>
          <p:cNvPr id="21" name="Shape 19"/>
          <p:cNvSpPr/>
          <p:nvPr/>
        </p:nvSpPr>
        <p:spPr>
          <a:xfrm>
            <a:off x="411480" y="3090672"/>
            <a:ext cx="4069080" cy="1664208"/>
          </a:xfrm>
          <a:prstGeom prst="roundRect">
            <a:avLst>
              <a:gd name="adj" fmla="val 6593"/>
            </a:avLst>
          </a:prstGeom>
          <a:solidFill>
            <a:srgbClr val="FFFFFF"/>
          </a:solidFill>
          <a:ln/>
          <a:effectLst>
            <a:outerShdw blurRad="101600" dist="38100" dir="2700000" algn="bl" rotWithShape="0">
              <a:srgbClr val="000000">
                <a:alpha val="12000"/>
              </a:srgbClr>
            </a:outerShdw>
          </a:effectLst>
        </p:spPr>
      </p:sp>
      <p:sp>
        <p:nvSpPr>
          <p:cNvPr id="22" name="Shape 20"/>
          <p:cNvSpPr/>
          <p:nvPr/>
        </p:nvSpPr>
        <p:spPr>
          <a:xfrm>
            <a:off x="521208" y="3200400"/>
            <a:ext cx="365760" cy="365760"/>
          </a:xfrm>
          <a:prstGeom prst="ellipse">
            <a:avLst/>
          </a:prstGeom>
          <a:solidFill>
            <a:srgbClr val="0D5C63"/>
          </a:solidFill>
          <a:ln w="12700">
            <a:solidFill>
              <a:srgbClr val="0D5C63"/>
            </a:solidFill>
            <a:prstDash val="solid"/>
          </a:ln>
        </p:spPr>
      </p:sp>
      <p:sp>
        <p:nvSpPr>
          <p:cNvPr id="23" name="Text 21"/>
          <p:cNvSpPr/>
          <p:nvPr/>
        </p:nvSpPr>
        <p:spPr>
          <a:xfrm>
            <a:off x="521208" y="320040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sp>
        <p:nvSpPr>
          <p:cNvPr id="24" name="Text 22"/>
          <p:cNvSpPr/>
          <p:nvPr/>
        </p:nvSpPr>
        <p:spPr>
          <a:xfrm>
            <a:off x="978408" y="3200400"/>
            <a:ext cx="3410712"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Insulin Reduction = Highest Risk</a:t>
            </a:r>
            <a:endParaRPr lang="en-US" sz="1200" dirty="0"/>
          </a:p>
        </p:txBody>
      </p:sp>
      <p:sp>
        <p:nvSpPr>
          <p:cNvPr id="25" name="Shape 23"/>
          <p:cNvSpPr/>
          <p:nvPr/>
        </p:nvSpPr>
        <p:spPr>
          <a:xfrm>
            <a:off x="521208" y="3584448"/>
            <a:ext cx="3840480" cy="0"/>
          </a:xfrm>
          <a:prstGeom prst="line">
            <a:avLst/>
          </a:prstGeom>
          <a:noFill/>
          <a:ln w="9525">
            <a:solidFill>
              <a:srgbClr val="E2E8F0"/>
            </a:solidFill>
            <a:prstDash val="solid"/>
          </a:ln>
        </p:spPr>
      </p:sp>
      <p:sp>
        <p:nvSpPr>
          <p:cNvPr id="26" name="Text 24"/>
          <p:cNvSpPr/>
          <p:nvPr/>
        </p:nvSpPr>
        <p:spPr>
          <a:xfrm>
            <a:off x="521208" y="3639312"/>
            <a:ext cx="1828800" cy="1005840"/>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Insulin Down: 10.3% (HIGHEST)</a:t>
            </a:r>
            <a:endParaRPr lang="en-US" sz="900" dirty="0"/>
          </a:p>
          <a:p>
            <a:pPr marL="0" indent="0">
              <a:buNone/>
            </a:pPr>
            <a:r>
              <a:rPr lang="en-US" sz="900" dirty="0">
                <a:solidFill>
                  <a:srgbClr val="64748B"/>
                </a:solidFill>
                <a:latin typeface="Arial" pitchFamily="34" charset="0"/>
                <a:ea typeface="Arial" pitchFamily="34" charset="-122"/>
                <a:cs typeface="Arial" pitchFamily="34" charset="-120"/>
              </a:rPr>
              <a:t>Insulin Up: 9.6%  |  Steady: 9.1%</a:t>
            </a:r>
            <a:endParaRPr lang="en-US" sz="900" dirty="0"/>
          </a:p>
          <a:p>
            <a:pPr marL="0" indent="0">
              <a:buNone/>
            </a:pPr>
            <a:r>
              <a:rPr lang="en-US" sz="900" dirty="0">
                <a:solidFill>
                  <a:srgbClr val="64748B"/>
                </a:solidFill>
                <a:latin typeface="Arial" pitchFamily="34" charset="0"/>
                <a:ea typeface="Arial" pitchFamily="34" charset="-122"/>
                <a:cs typeface="Arial" pitchFamily="34" charset="-120"/>
              </a:rPr>
              <a:t>No Insulin: 8.1% (lowest)</a:t>
            </a:r>
            <a:endParaRPr lang="en-US" sz="900" dirty="0"/>
          </a:p>
        </p:txBody>
      </p:sp>
      <p:sp>
        <p:nvSpPr>
          <p:cNvPr id="27" name="Shape 25"/>
          <p:cNvSpPr/>
          <p:nvPr/>
        </p:nvSpPr>
        <p:spPr>
          <a:xfrm>
            <a:off x="2404872" y="3639312"/>
            <a:ext cx="0" cy="960120"/>
          </a:xfrm>
          <a:prstGeom prst="line">
            <a:avLst/>
          </a:prstGeom>
          <a:noFill/>
          <a:ln w="9525">
            <a:solidFill>
              <a:srgbClr val="E2E8F0"/>
            </a:solidFill>
            <a:prstDash val="solid"/>
          </a:ln>
        </p:spPr>
      </p:sp>
      <p:sp>
        <p:nvSpPr>
          <p:cNvPr id="28" name="Text 26"/>
          <p:cNvSpPr/>
          <p:nvPr/>
        </p:nvSpPr>
        <p:spPr>
          <a:xfrm>
            <a:off x="2514600" y="3639312"/>
            <a:ext cx="1856232" cy="1005840"/>
          </a:xfrm>
          <a:prstGeom prst="rect">
            <a:avLst/>
          </a:prstGeom>
          <a:noFill/>
          <a:ln/>
        </p:spPr>
        <p:txBody>
          <a:bodyPr wrap="square" lIns="0" tIns="0" rIns="0" bIns="0" rtlCol="0" anchor="ctr"/>
          <a:lstStyle/>
          <a:p>
            <a:pPr marL="0" indent="0">
              <a:buNone/>
            </a:pPr>
            <a:r>
              <a:rPr lang="en-US" sz="900" dirty="0">
                <a:solidFill>
                  <a:srgbClr val="0D2B2E"/>
                </a:solidFill>
                <a:latin typeface="Arial" pitchFamily="34" charset="0"/>
                <a:ea typeface="Arial" pitchFamily="34" charset="-122"/>
                <a:cs typeface="Arial" pitchFamily="34" charset="-120"/>
              </a:rPr>
              <a:t>Any insulin dose REDUCTION triggers</a:t>
            </a:r>
            <a:endParaRPr lang="en-US" sz="900" dirty="0"/>
          </a:p>
          <a:p>
            <a:pPr marL="0" indent="0">
              <a:buNone/>
            </a:pPr>
            <a:r>
              <a:rPr lang="en-US" sz="900" dirty="0">
                <a:solidFill>
                  <a:srgbClr val="0D2B2E"/>
                </a:solidFill>
                <a:latin typeface="Arial" pitchFamily="34" charset="0"/>
                <a:ea typeface="Arial" pitchFamily="34" charset="-122"/>
                <a:cs typeface="Arial" pitchFamily="34" charset="-120"/>
              </a:rPr>
              <a:t>mandatory 48-hour phone follow-up</a:t>
            </a:r>
            <a:endParaRPr lang="en-US" sz="900" dirty="0"/>
          </a:p>
          <a:p>
            <a:pPr marL="0" indent="0">
              <a:buNone/>
            </a:pPr>
            <a:r>
              <a:rPr lang="en-US" sz="900" dirty="0">
                <a:solidFill>
                  <a:srgbClr val="0D2B2E"/>
                </a:solidFill>
                <a:latin typeface="Arial" pitchFamily="34" charset="0"/>
                <a:ea typeface="Arial" pitchFamily="34" charset="-122"/>
                <a:cs typeface="Arial" pitchFamily="34" charset="-120"/>
              </a:rPr>
              <a:t>and glucose monitoring check-in</a:t>
            </a:r>
            <a:endParaRPr lang="en-US" sz="900" dirty="0"/>
          </a:p>
        </p:txBody>
      </p:sp>
      <p:sp>
        <p:nvSpPr>
          <p:cNvPr id="29" name="Shape 27"/>
          <p:cNvSpPr/>
          <p:nvPr/>
        </p:nvSpPr>
        <p:spPr>
          <a:xfrm>
            <a:off x="4663440" y="3090672"/>
            <a:ext cx="4069080" cy="1664208"/>
          </a:xfrm>
          <a:prstGeom prst="roundRect">
            <a:avLst>
              <a:gd name="adj" fmla="val 6593"/>
            </a:avLst>
          </a:prstGeom>
          <a:solidFill>
            <a:srgbClr val="FFFFFF"/>
          </a:solidFill>
          <a:ln/>
          <a:effectLst>
            <a:outerShdw blurRad="101600" dist="38100" dir="2700000" algn="bl" rotWithShape="0">
              <a:srgbClr val="000000">
                <a:alpha val="12000"/>
              </a:srgbClr>
            </a:outerShdw>
          </a:effectLst>
        </p:spPr>
      </p:sp>
      <p:sp>
        <p:nvSpPr>
          <p:cNvPr id="30" name="Shape 28"/>
          <p:cNvSpPr/>
          <p:nvPr/>
        </p:nvSpPr>
        <p:spPr>
          <a:xfrm>
            <a:off x="4773168" y="3200400"/>
            <a:ext cx="365760" cy="365760"/>
          </a:xfrm>
          <a:prstGeom prst="ellipse">
            <a:avLst/>
          </a:prstGeom>
          <a:solidFill>
            <a:srgbClr val="0D5C63"/>
          </a:solidFill>
          <a:ln w="12700">
            <a:solidFill>
              <a:srgbClr val="0D5C63"/>
            </a:solidFill>
            <a:prstDash val="solid"/>
          </a:ln>
        </p:spPr>
      </p:sp>
      <p:sp>
        <p:nvSpPr>
          <p:cNvPr id="31" name="Text 29"/>
          <p:cNvSpPr/>
          <p:nvPr/>
        </p:nvSpPr>
        <p:spPr>
          <a:xfrm>
            <a:off x="4773168" y="320040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04</a:t>
            </a:r>
            <a:endParaRPr lang="en-US" sz="1100" dirty="0"/>
          </a:p>
        </p:txBody>
      </p:sp>
      <p:sp>
        <p:nvSpPr>
          <p:cNvPr id="32" name="Text 30"/>
          <p:cNvSpPr/>
          <p:nvPr/>
        </p:nvSpPr>
        <p:spPr>
          <a:xfrm>
            <a:off x="5230368" y="3200400"/>
            <a:ext cx="3410712" cy="292608"/>
          </a:xfrm>
          <a:prstGeom prst="rect">
            <a:avLst/>
          </a:prstGeom>
          <a:noFill/>
          <a:ln/>
        </p:spPr>
        <p:txBody>
          <a:bodyPr wrap="square" lIns="0" tIns="0" rIns="0" bIns="0" rtlCol="0" anchor="ctr"/>
          <a:lstStyle/>
          <a:p>
            <a:pPr marL="0" indent="0">
              <a:buNone/>
            </a:pPr>
            <a:r>
              <a:rPr lang="en-US" sz="1200" b="1" dirty="0">
                <a:solidFill>
                  <a:srgbClr val="0D5C63"/>
                </a:solidFill>
                <a:latin typeface="Arial" pitchFamily="34" charset="0"/>
                <a:ea typeface="Arial" pitchFamily="34" charset="-122"/>
                <a:cs typeface="Arial" pitchFamily="34" charset="-120"/>
              </a:rPr>
              <a:t>20+ Medications = Polypharmacy Risk</a:t>
            </a:r>
            <a:endParaRPr lang="en-US" sz="1200" dirty="0"/>
          </a:p>
        </p:txBody>
      </p:sp>
      <p:sp>
        <p:nvSpPr>
          <p:cNvPr id="33" name="Shape 31"/>
          <p:cNvSpPr/>
          <p:nvPr/>
        </p:nvSpPr>
        <p:spPr>
          <a:xfrm>
            <a:off x="4773168" y="3584448"/>
            <a:ext cx="3840480" cy="0"/>
          </a:xfrm>
          <a:prstGeom prst="line">
            <a:avLst/>
          </a:prstGeom>
          <a:noFill/>
          <a:ln w="9525">
            <a:solidFill>
              <a:srgbClr val="E2E8F0"/>
            </a:solidFill>
            <a:prstDash val="solid"/>
          </a:ln>
        </p:spPr>
      </p:sp>
      <p:sp>
        <p:nvSpPr>
          <p:cNvPr id="34" name="Text 32"/>
          <p:cNvSpPr/>
          <p:nvPr/>
        </p:nvSpPr>
        <p:spPr>
          <a:xfrm>
            <a:off x="4773168" y="3639312"/>
            <a:ext cx="1828800" cy="1005840"/>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1-5 meds: 5.8% readmission</a:t>
            </a:r>
            <a:endParaRPr lang="en-US" sz="900" dirty="0"/>
          </a:p>
          <a:p>
            <a:pPr marL="0" indent="0">
              <a:buNone/>
            </a:pPr>
            <a:r>
              <a:rPr lang="en-US" sz="900" dirty="0">
                <a:solidFill>
                  <a:srgbClr val="64748B"/>
                </a:solidFill>
                <a:latin typeface="Arial" pitchFamily="34" charset="0"/>
                <a:ea typeface="Arial" pitchFamily="34" charset="-122"/>
                <a:cs typeface="Arial" pitchFamily="34" charset="-120"/>
              </a:rPr>
              <a:t>20+ meds: 10.2% readmission</a:t>
            </a:r>
            <a:endParaRPr lang="en-US" sz="900" dirty="0"/>
          </a:p>
        </p:txBody>
      </p:sp>
      <p:sp>
        <p:nvSpPr>
          <p:cNvPr id="35" name="Shape 33"/>
          <p:cNvSpPr/>
          <p:nvPr/>
        </p:nvSpPr>
        <p:spPr>
          <a:xfrm>
            <a:off x="6656832" y="3639312"/>
            <a:ext cx="0" cy="960120"/>
          </a:xfrm>
          <a:prstGeom prst="line">
            <a:avLst/>
          </a:prstGeom>
          <a:noFill/>
          <a:ln w="9525">
            <a:solidFill>
              <a:srgbClr val="E2E8F0"/>
            </a:solidFill>
            <a:prstDash val="solid"/>
          </a:ln>
        </p:spPr>
      </p:sp>
      <p:sp>
        <p:nvSpPr>
          <p:cNvPr id="36" name="Text 34"/>
          <p:cNvSpPr/>
          <p:nvPr/>
        </p:nvSpPr>
        <p:spPr>
          <a:xfrm>
            <a:off x="6766560" y="3639312"/>
            <a:ext cx="1856232" cy="1005840"/>
          </a:xfrm>
          <a:prstGeom prst="rect">
            <a:avLst/>
          </a:prstGeom>
          <a:noFill/>
          <a:ln/>
        </p:spPr>
        <p:txBody>
          <a:bodyPr wrap="square" lIns="0" tIns="0" rIns="0" bIns="0" rtlCol="0" anchor="ctr"/>
          <a:lstStyle/>
          <a:p>
            <a:pPr marL="0" indent="0">
              <a:buNone/>
            </a:pPr>
            <a:r>
              <a:rPr lang="en-US" sz="900" dirty="0">
                <a:solidFill>
                  <a:srgbClr val="0D2B2E"/>
                </a:solidFill>
                <a:latin typeface="Arial" pitchFamily="34" charset="0"/>
                <a:ea typeface="Arial" pitchFamily="34" charset="-122"/>
                <a:cs typeface="Arial" pitchFamily="34" charset="-120"/>
              </a:rPr>
              <a:t>Pharmacist-led medication reconciliation</a:t>
            </a:r>
            <a:endParaRPr lang="en-US" sz="900" dirty="0"/>
          </a:p>
          <a:p>
            <a:pPr marL="0" indent="0">
              <a:buNone/>
            </a:pPr>
            <a:r>
              <a:rPr lang="en-US" sz="900" dirty="0">
                <a:solidFill>
                  <a:srgbClr val="0D2B2E"/>
                </a:solidFill>
                <a:latin typeface="Arial" pitchFamily="34" charset="0"/>
                <a:ea typeface="Arial" pitchFamily="34" charset="-122"/>
                <a:cs typeface="Arial" pitchFamily="34" charset="-120"/>
              </a:rPr>
              <a:t>mandatory for all patients on 16+</a:t>
            </a:r>
            <a:endParaRPr lang="en-US" sz="900" dirty="0"/>
          </a:p>
          <a:p>
            <a:pPr marL="0" indent="0">
              <a:buNone/>
            </a:pPr>
            <a:r>
              <a:rPr lang="en-US" sz="900" dirty="0">
                <a:solidFill>
                  <a:srgbClr val="0D2B2E"/>
                </a:solidFill>
                <a:latin typeface="Arial" pitchFamily="34" charset="0"/>
                <a:ea typeface="Arial" pitchFamily="34" charset="-122"/>
                <a:cs typeface="Arial" pitchFamily="34" charset="-120"/>
              </a:rPr>
              <a:t>medications before discharge</a:t>
            </a:r>
            <a:endParaRPr lang="en-US" sz="900" dirty="0"/>
          </a:p>
        </p:txBody>
      </p:sp>
      <p:sp>
        <p:nvSpPr>
          <p:cNvPr id="37" name="Shape 35"/>
          <p:cNvSpPr/>
          <p:nvPr/>
        </p:nvSpPr>
        <p:spPr>
          <a:xfrm>
            <a:off x="411480" y="4800600"/>
            <a:ext cx="8321040" cy="0"/>
          </a:xfrm>
          <a:prstGeom prst="line">
            <a:avLst/>
          </a:prstGeom>
          <a:noFill/>
          <a:ln w="12700">
            <a:solidFill>
              <a:srgbClr val="0D9488"/>
            </a:solidFill>
            <a:prstDash val="solid"/>
          </a:ln>
        </p:spPr>
      </p:sp>
      <p:sp>
        <p:nvSpPr>
          <p:cNvPr id="38" name="Text 36"/>
          <p:cNvSpPr/>
          <p:nvPr/>
        </p:nvSpPr>
        <p:spPr>
          <a:xfrm>
            <a:off x="411480" y="4846320"/>
            <a:ext cx="8321040" cy="20116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Akshara Miriyala  |  MS Business Analytics  |  University of Cincinnati  |  BANA 7099 Capstone</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98225"/>
    </mc:Choice>
    <mc:Fallback xmlns="">
      <p:transition spd="slow" advTm="9822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5C63"/>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Conclusions</a:t>
            </a:r>
            <a:endParaRPr lang="en-US" sz="2800" dirty="0"/>
          </a:p>
        </p:txBody>
      </p:sp>
      <p:sp>
        <p:nvSpPr>
          <p:cNvPr id="3" name="Shape 1"/>
          <p:cNvSpPr/>
          <p:nvPr/>
        </p:nvSpPr>
        <p:spPr>
          <a:xfrm>
            <a:off x="320040" y="804672"/>
            <a:ext cx="2724912" cy="4023360"/>
          </a:xfrm>
          <a:prstGeom prst="roundRect">
            <a:avLst>
              <a:gd name="adj" fmla="val 4027"/>
            </a:avLst>
          </a:prstGeom>
          <a:solidFill>
            <a:srgbClr val="FFFFFF">
              <a:alpha val="90000"/>
            </a:srgbClr>
          </a:solidFill>
          <a:ln/>
          <a:effectLst>
            <a:outerShdw blurRad="101600" dist="38100" dir="2700000" algn="bl" rotWithShape="0">
              <a:srgbClr val="000000">
                <a:alpha val="12000"/>
              </a:srgbClr>
            </a:outerShdw>
          </a:effectLst>
        </p:spPr>
      </p:sp>
      <p:sp>
        <p:nvSpPr>
          <p:cNvPr id="4" name="Text 2"/>
          <p:cNvSpPr/>
          <p:nvPr/>
        </p:nvSpPr>
        <p:spPr>
          <a:xfrm>
            <a:off x="457200" y="896112"/>
            <a:ext cx="2468880" cy="411480"/>
          </a:xfrm>
          <a:prstGeom prst="rect">
            <a:avLst/>
          </a:prstGeom>
          <a:noFill/>
          <a:ln/>
        </p:spPr>
        <p:txBody>
          <a:bodyPr wrap="square" lIns="0" tIns="0" rIns="0" bIns="0" rtlCol="0" anchor="ctr"/>
          <a:lstStyle/>
          <a:p>
            <a:pPr marL="0" indent="0">
              <a:buNone/>
            </a:pPr>
            <a:r>
              <a:rPr lang="en-US" sz="1200" b="1" dirty="0">
                <a:solidFill>
                  <a:srgbClr val="E0A800"/>
                </a:solidFill>
                <a:latin typeface="Arial" pitchFamily="34" charset="0"/>
                <a:ea typeface="Arial" pitchFamily="34" charset="-122"/>
                <a:cs typeface="Arial" pitchFamily="34" charset="-120"/>
              </a:rPr>
              <a:t>Key Findings</a:t>
            </a:r>
            <a:endParaRPr lang="en-US" sz="1200" dirty="0"/>
          </a:p>
        </p:txBody>
      </p:sp>
      <p:sp>
        <p:nvSpPr>
          <p:cNvPr id="5" name="Shape 3"/>
          <p:cNvSpPr/>
          <p:nvPr/>
        </p:nvSpPr>
        <p:spPr>
          <a:xfrm>
            <a:off x="457200" y="1325880"/>
            <a:ext cx="2450592" cy="0"/>
          </a:xfrm>
          <a:prstGeom prst="line">
            <a:avLst/>
          </a:prstGeom>
          <a:noFill/>
          <a:ln w="12700">
            <a:solidFill>
              <a:srgbClr val="E0A800"/>
            </a:solidFill>
            <a:prstDash val="solid"/>
          </a:ln>
        </p:spPr>
      </p:sp>
      <p:sp>
        <p:nvSpPr>
          <p:cNvPr id="6" name="Text 4"/>
          <p:cNvSpPr/>
          <p:nvPr/>
        </p:nvSpPr>
        <p:spPr>
          <a:xfrm>
            <a:off x="457200" y="1417320"/>
            <a:ext cx="2468880" cy="3246120"/>
          </a:xfrm>
          <a:prstGeom prst="rect">
            <a:avLst/>
          </a:prstGeom>
          <a:noFill/>
          <a:ln/>
        </p:spPr>
        <p:txBody>
          <a:bodyPr wrap="square" lIns="0" tIns="0" rIns="0" bIns="0" rtlCol="0" anchor="ctr"/>
          <a:lstStyle/>
          <a:p>
            <a:pPr marL="342900" indent="-342900">
              <a:buSzPct val="100000"/>
              <a:buChar char="•"/>
            </a:pPr>
            <a:r>
              <a:rPr lang="en-US" sz="950" dirty="0">
                <a:solidFill>
                  <a:srgbClr val="0070C0"/>
                </a:solidFill>
                <a:latin typeface="Arial" pitchFamily="34" charset="0"/>
                <a:ea typeface="Arial" pitchFamily="34" charset="-122"/>
                <a:cs typeface="Arial" pitchFamily="34" charset="-120"/>
              </a:rPr>
              <a:t>XGBoost (AUC=0.6588) outperforms all 3 competing models</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AUC values consistent with published literature on this problem</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Insulin dose reduction at discharge carries highest readmission risk (10.3%)</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Readmission risk doubles from 1-day (6.4%) to 8-day (12%) stays</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Polypharmacy patients (20+ meds) face 75% higher readmission rate vs. low-med patients</a:t>
            </a:r>
            <a:endParaRPr lang="en-US" sz="950" dirty="0">
              <a:solidFill>
                <a:srgbClr val="0070C0"/>
              </a:solidFill>
            </a:endParaRPr>
          </a:p>
        </p:txBody>
      </p:sp>
      <p:sp>
        <p:nvSpPr>
          <p:cNvPr id="7" name="Shape 5"/>
          <p:cNvSpPr/>
          <p:nvPr/>
        </p:nvSpPr>
        <p:spPr>
          <a:xfrm>
            <a:off x="3200400" y="804672"/>
            <a:ext cx="2724912" cy="4023360"/>
          </a:xfrm>
          <a:prstGeom prst="roundRect">
            <a:avLst>
              <a:gd name="adj" fmla="val 4027"/>
            </a:avLst>
          </a:prstGeom>
          <a:solidFill>
            <a:srgbClr val="FFFFFF">
              <a:alpha val="90000"/>
            </a:srgbClr>
          </a:solidFill>
          <a:ln/>
          <a:effectLst>
            <a:outerShdw blurRad="101600" dist="38100" dir="2700000" algn="bl" rotWithShape="0">
              <a:srgbClr val="000000">
                <a:alpha val="12000"/>
              </a:srgbClr>
            </a:outerShdw>
          </a:effectLst>
        </p:spPr>
      </p:sp>
      <p:sp>
        <p:nvSpPr>
          <p:cNvPr id="8" name="Text 6"/>
          <p:cNvSpPr/>
          <p:nvPr/>
        </p:nvSpPr>
        <p:spPr>
          <a:xfrm>
            <a:off x="3337560" y="896112"/>
            <a:ext cx="2468880" cy="411480"/>
          </a:xfrm>
          <a:prstGeom prst="rect">
            <a:avLst/>
          </a:prstGeom>
          <a:noFill/>
          <a:ln/>
        </p:spPr>
        <p:txBody>
          <a:bodyPr wrap="square" lIns="0" tIns="0" rIns="0" bIns="0" rtlCol="0" anchor="ctr"/>
          <a:lstStyle/>
          <a:p>
            <a:pPr marL="0" indent="0">
              <a:buNone/>
            </a:pPr>
            <a:r>
              <a:rPr lang="en-US" sz="1200" b="1" dirty="0">
                <a:solidFill>
                  <a:srgbClr val="E0A800"/>
                </a:solidFill>
                <a:latin typeface="Arial" pitchFamily="34" charset="0"/>
                <a:ea typeface="Arial" pitchFamily="34" charset="-122"/>
                <a:cs typeface="Arial" pitchFamily="34" charset="-120"/>
              </a:rPr>
              <a:t>MS-BANA Skills Demonstrated</a:t>
            </a:r>
            <a:endParaRPr lang="en-US" sz="1200" dirty="0"/>
          </a:p>
        </p:txBody>
      </p:sp>
      <p:sp>
        <p:nvSpPr>
          <p:cNvPr id="9" name="Shape 7"/>
          <p:cNvSpPr/>
          <p:nvPr/>
        </p:nvSpPr>
        <p:spPr>
          <a:xfrm>
            <a:off x="3337560" y="1325880"/>
            <a:ext cx="2450592" cy="0"/>
          </a:xfrm>
          <a:prstGeom prst="line">
            <a:avLst/>
          </a:prstGeom>
          <a:noFill/>
          <a:ln w="12700">
            <a:solidFill>
              <a:srgbClr val="E0A800"/>
            </a:solidFill>
            <a:prstDash val="solid"/>
          </a:ln>
        </p:spPr>
      </p:sp>
      <p:sp>
        <p:nvSpPr>
          <p:cNvPr id="10" name="Text 8"/>
          <p:cNvSpPr/>
          <p:nvPr/>
        </p:nvSpPr>
        <p:spPr>
          <a:xfrm>
            <a:off x="3337560" y="1417320"/>
            <a:ext cx="2468880" cy="3246120"/>
          </a:xfrm>
          <a:prstGeom prst="rect">
            <a:avLst/>
          </a:prstGeom>
          <a:noFill/>
          <a:ln/>
        </p:spPr>
        <p:txBody>
          <a:bodyPr wrap="square" lIns="0" tIns="0" rIns="0" bIns="0" rtlCol="0" anchor="ctr"/>
          <a:lstStyle/>
          <a:p>
            <a:pPr marL="342900" indent="-342900">
              <a:buSzPct val="100000"/>
              <a:buChar char="•"/>
            </a:pPr>
            <a:r>
              <a:rPr lang="en-US" sz="950" dirty="0">
                <a:solidFill>
                  <a:srgbClr val="0070C0"/>
                </a:solidFill>
                <a:latin typeface="Arial" pitchFamily="34" charset="0"/>
                <a:ea typeface="Arial" pitchFamily="34" charset="-122"/>
                <a:cs typeface="Arial" pitchFamily="34" charset="-120"/>
              </a:rPr>
              <a:t>Data Mining I &amp; II — 4 model families, AUC evaluation, tuning</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Statistical Modeling — Logistic Regression, odds ratios, imbalance handling</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Data Visualization — 14 publication-quality plots</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Business Analytics — translating models into clinical recommendations</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Python — full reproducible pipeline with fixed random seed</a:t>
            </a:r>
            <a:endParaRPr lang="en-US" sz="950" dirty="0">
              <a:solidFill>
                <a:srgbClr val="0070C0"/>
              </a:solidFill>
            </a:endParaRPr>
          </a:p>
        </p:txBody>
      </p:sp>
      <p:sp>
        <p:nvSpPr>
          <p:cNvPr id="11" name="Shape 9"/>
          <p:cNvSpPr/>
          <p:nvPr/>
        </p:nvSpPr>
        <p:spPr>
          <a:xfrm>
            <a:off x="6080760" y="804672"/>
            <a:ext cx="2724912" cy="4023360"/>
          </a:xfrm>
          <a:prstGeom prst="roundRect">
            <a:avLst>
              <a:gd name="adj" fmla="val 4027"/>
            </a:avLst>
          </a:prstGeom>
          <a:solidFill>
            <a:srgbClr val="FFFFFF">
              <a:alpha val="90000"/>
            </a:srgbClr>
          </a:solidFill>
          <a:ln/>
          <a:effectLst>
            <a:outerShdw blurRad="101600" dist="38100" dir="2700000" algn="bl" rotWithShape="0">
              <a:srgbClr val="000000">
                <a:alpha val="12000"/>
              </a:srgbClr>
            </a:outerShdw>
          </a:effectLst>
        </p:spPr>
      </p:sp>
      <p:sp>
        <p:nvSpPr>
          <p:cNvPr id="12" name="Text 10"/>
          <p:cNvSpPr/>
          <p:nvPr/>
        </p:nvSpPr>
        <p:spPr>
          <a:xfrm>
            <a:off x="6217920" y="896112"/>
            <a:ext cx="2468880" cy="411480"/>
          </a:xfrm>
          <a:prstGeom prst="rect">
            <a:avLst/>
          </a:prstGeom>
          <a:noFill/>
          <a:ln/>
        </p:spPr>
        <p:txBody>
          <a:bodyPr wrap="square" lIns="0" tIns="0" rIns="0" bIns="0" rtlCol="0" anchor="ctr"/>
          <a:lstStyle/>
          <a:p>
            <a:pPr marL="0" indent="0">
              <a:buNone/>
            </a:pPr>
            <a:r>
              <a:rPr lang="en-US" sz="1200" b="1" dirty="0">
                <a:solidFill>
                  <a:srgbClr val="E0A800"/>
                </a:solidFill>
                <a:latin typeface="Arial" pitchFamily="34" charset="0"/>
                <a:ea typeface="Arial" pitchFamily="34" charset="-122"/>
                <a:cs typeface="Arial" pitchFamily="34" charset="-120"/>
              </a:rPr>
              <a:t>Future Extensions</a:t>
            </a:r>
            <a:endParaRPr lang="en-US" sz="1200" dirty="0"/>
          </a:p>
        </p:txBody>
      </p:sp>
      <p:sp>
        <p:nvSpPr>
          <p:cNvPr id="13" name="Shape 11"/>
          <p:cNvSpPr/>
          <p:nvPr/>
        </p:nvSpPr>
        <p:spPr>
          <a:xfrm>
            <a:off x="6217920" y="1325880"/>
            <a:ext cx="2450592" cy="0"/>
          </a:xfrm>
          <a:prstGeom prst="line">
            <a:avLst/>
          </a:prstGeom>
          <a:noFill/>
          <a:ln w="12700">
            <a:solidFill>
              <a:srgbClr val="E0A800"/>
            </a:solidFill>
            <a:prstDash val="solid"/>
          </a:ln>
        </p:spPr>
      </p:sp>
      <p:sp>
        <p:nvSpPr>
          <p:cNvPr id="14" name="Text 12"/>
          <p:cNvSpPr/>
          <p:nvPr/>
        </p:nvSpPr>
        <p:spPr>
          <a:xfrm>
            <a:off x="6217920" y="1417320"/>
            <a:ext cx="2468880" cy="3246120"/>
          </a:xfrm>
          <a:prstGeom prst="rect">
            <a:avLst/>
          </a:prstGeom>
          <a:noFill/>
          <a:ln/>
        </p:spPr>
        <p:txBody>
          <a:bodyPr wrap="square" lIns="0" tIns="0" rIns="0" bIns="0" rtlCol="0" anchor="ctr"/>
          <a:lstStyle/>
          <a:p>
            <a:pPr marL="342900" indent="-342900">
              <a:buSzPct val="100000"/>
              <a:buChar char="•"/>
            </a:pPr>
            <a:r>
              <a:rPr lang="en-US" sz="950" dirty="0">
                <a:solidFill>
                  <a:srgbClr val="0070C0"/>
                </a:solidFill>
                <a:latin typeface="Arial" pitchFamily="34" charset="0"/>
                <a:ea typeface="Arial" pitchFamily="34" charset="-122"/>
                <a:cs typeface="Arial" pitchFamily="34" charset="-120"/>
              </a:rPr>
              <a:t>SHAP values for individual patient-level explanations</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Interactive risk scoring tool for discharge planners</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Multi-class prediction: 7-day, 30-day, 90-day readmission windows</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Incorporate social determinants of health features</a:t>
            </a:r>
            <a:endParaRPr lang="en-US" sz="950" dirty="0">
              <a:solidFill>
                <a:srgbClr val="0070C0"/>
              </a:solidFill>
            </a:endParaRPr>
          </a:p>
          <a:p>
            <a:pPr marL="342900" indent="-342900">
              <a:buSzPct val="100000"/>
              <a:buChar char="•"/>
            </a:pPr>
            <a:r>
              <a:rPr lang="en-US" sz="950" dirty="0">
                <a:solidFill>
                  <a:srgbClr val="0070C0"/>
                </a:solidFill>
                <a:latin typeface="Arial" pitchFamily="34" charset="0"/>
                <a:ea typeface="Arial" pitchFamily="34" charset="-122"/>
                <a:cs typeface="Arial" pitchFamily="34" charset="-120"/>
              </a:rPr>
              <a:t>Prospective validation on a more recent clinical dataset</a:t>
            </a:r>
            <a:endParaRPr lang="en-US" sz="950" dirty="0">
              <a:solidFill>
                <a:srgbClr val="0070C0"/>
              </a:solidFill>
            </a:endParaRPr>
          </a:p>
        </p:txBody>
      </p:sp>
      <p:sp>
        <p:nvSpPr>
          <p:cNvPr id="15" name="Text 13"/>
          <p:cNvSpPr/>
          <p:nvPr/>
        </p:nvSpPr>
        <p:spPr>
          <a:xfrm>
            <a:off x="320040" y="4892040"/>
            <a:ext cx="8503920" cy="292608"/>
          </a:xfrm>
          <a:prstGeom prst="rect">
            <a:avLst/>
          </a:prstGeom>
          <a:noFill/>
          <a:ln/>
        </p:spPr>
        <p:txBody>
          <a:bodyPr wrap="square" lIns="0" tIns="0" rIns="0" bIns="0" rtlCol="0" anchor="ctr"/>
          <a:lstStyle/>
          <a:p>
            <a:pPr marL="0" indent="0" algn="ctr">
              <a:buNone/>
            </a:pPr>
            <a:r>
              <a:rPr lang="en-US" sz="1000" i="1" dirty="0">
                <a:solidFill>
                  <a:srgbClr val="E0A800"/>
                </a:solidFill>
                <a:latin typeface="Arial" pitchFamily="34" charset="0"/>
                <a:ea typeface="Arial" pitchFamily="34" charset="-122"/>
                <a:cs typeface="Arial" pitchFamily="34" charset="-120"/>
              </a:rPr>
              <a:t>This project demonstrates the full MS-BANA analytics cycle: from raw clinical data to stakeholder-ready, evidence-based recommendations.</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44615"/>
    </mc:Choice>
    <mc:Fallback xmlns="">
      <p:transition spd="slow" advTm="4461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AFA"/>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buNone/>
            </a:pPr>
            <a:r>
              <a:rPr lang="en-US" sz="2800" b="1" dirty="0">
                <a:solidFill>
                  <a:srgbClr val="0D5C63"/>
                </a:solidFill>
                <a:latin typeface="Cambria" pitchFamily="34" charset="0"/>
                <a:ea typeface="Cambria" pitchFamily="34" charset="-122"/>
                <a:cs typeface="Cambria" pitchFamily="34" charset="-120"/>
              </a:rPr>
              <a:t>Use of Generative AI in This Project</a:t>
            </a:r>
            <a:endParaRPr lang="en-US" sz="2800" dirty="0"/>
          </a:p>
        </p:txBody>
      </p:sp>
      <p:sp>
        <p:nvSpPr>
          <p:cNvPr id="3" name="Shape 1"/>
          <p:cNvSpPr/>
          <p:nvPr/>
        </p:nvSpPr>
        <p:spPr>
          <a:xfrm>
            <a:off x="411480" y="804672"/>
            <a:ext cx="8321040" cy="475488"/>
          </a:xfrm>
          <a:prstGeom prst="roundRect">
            <a:avLst>
              <a:gd name="adj" fmla="val 15385"/>
            </a:avLst>
          </a:prstGeom>
          <a:solidFill>
            <a:srgbClr val="0D5C63"/>
          </a:solidFill>
          <a:ln w="12700">
            <a:solidFill>
              <a:srgbClr val="0D5C63"/>
            </a:solidFill>
            <a:prstDash val="solid"/>
          </a:ln>
        </p:spPr>
      </p:sp>
      <p:sp>
        <p:nvSpPr>
          <p:cNvPr id="4" name="Text 2"/>
          <p:cNvSpPr/>
          <p:nvPr/>
        </p:nvSpPr>
        <p:spPr>
          <a:xfrm>
            <a:off x="502920" y="804672"/>
            <a:ext cx="813816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All analytical decisions, code, interpretations, and recommendations were made by the student. Gen-AI was used as a productivity and documentation tool only.</a:t>
            </a:r>
            <a:endParaRPr lang="en-US" sz="1050" dirty="0"/>
          </a:p>
        </p:txBody>
      </p:sp>
      <p:sp>
        <p:nvSpPr>
          <p:cNvPr id="5" name="Shape 3"/>
          <p:cNvSpPr/>
          <p:nvPr/>
        </p:nvSpPr>
        <p:spPr>
          <a:xfrm>
            <a:off x="411480" y="1417320"/>
            <a:ext cx="4069080" cy="1325880"/>
          </a:xfrm>
          <a:prstGeom prst="roundRect">
            <a:avLst>
              <a:gd name="adj" fmla="val 6897"/>
            </a:avLst>
          </a:prstGeom>
          <a:solidFill>
            <a:srgbClr val="FFFFFF"/>
          </a:solidFill>
          <a:ln/>
          <a:effectLst>
            <a:outerShdw blurRad="101600" dist="38100" dir="2700000" algn="bl" rotWithShape="0">
              <a:srgbClr val="000000">
                <a:alpha val="12000"/>
              </a:srgbClr>
            </a:outerShdw>
          </a:effectLst>
        </p:spPr>
      </p:sp>
      <p:sp>
        <p:nvSpPr>
          <p:cNvPr id="6" name="Text 4"/>
          <p:cNvSpPr/>
          <p:nvPr/>
        </p:nvSpPr>
        <p:spPr>
          <a:xfrm>
            <a:off x="594360" y="1508760"/>
            <a:ext cx="3749040" cy="274320"/>
          </a:xfrm>
          <a:prstGeom prst="rect">
            <a:avLst/>
          </a:prstGeom>
          <a:noFill/>
          <a:ln/>
        </p:spPr>
        <p:txBody>
          <a:bodyPr wrap="square" lIns="0" tIns="0" rIns="0" bIns="0" rtlCol="0" anchor="ctr"/>
          <a:lstStyle/>
          <a:p>
            <a:pPr marL="0" indent="0">
              <a:buNone/>
            </a:pPr>
            <a:r>
              <a:rPr lang="en-US" sz="1150" b="1" dirty="0">
                <a:solidFill>
                  <a:srgbClr val="0D5C63"/>
                </a:solidFill>
                <a:latin typeface="Arial" pitchFamily="34" charset="0"/>
                <a:ea typeface="Arial" pitchFamily="34" charset="-122"/>
                <a:cs typeface="Arial" pitchFamily="34" charset="-120"/>
              </a:rPr>
              <a:t>Code Scaffolding</a:t>
            </a:r>
            <a:endParaRPr lang="en-US" sz="1150" dirty="0"/>
          </a:p>
        </p:txBody>
      </p:sp>
      <p:sp>
        <p:nvSpPr>
          <p:cNvPr id="7" name="Text 5"/>
          <p:cNvSpPr/>
          <p:nvPr/>
        </p:nvSpPr>
        <p:spPr>
          <a:xfrm>
            <a:off x="594360" y="1819656"/>
            <a:ext cx="3749040" cy="822960"/>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Claude (Anthropic) was used to assist with structuring the Python pipeline and debugging code. All model configurations, hyperparameter choices, and analytical decisions were made independently by the student.</a:t>
            </a:r>
            <a:endParaRPr lang="en-US" sz="950" dirty="0"/>
          </a:p>
        </p:txBody>
      </p:sp>
      <p:sp>
        <p:nvSpPr>
          <p:cNvPr id="8" name="Shape 6"/>
          <p:cNvSpPr/>
          <p:nvPr/>
        </p:nvSpPr>
        <p:spPr>
          <a:xfrm>
            <a:off x="4663440" y="1417320"/>
            <a:ext cx="4069080" cy="1325880"/>
          </a:xfrm>
          <a:prstGeom prst="roundRect">
            <a:avLst>
              <a:gd name="adj" fmla="val 6897"/>
            </a:avLst>
          </a:prstGeom>
          <a:solidFill>
            <a:srgbClr val="FFFFFF"/>
          </a:solidFill>
          <a:ln/>
          <a:effectLst>
            <a:outerShdw blurRad="101600" dist="38100" dir="2700000" algn="bl" rotWithShape="0">
              <a:srgbClr val="000000">
                <a:alpha val="12000"/>
              </a:srgbClr>
            </a:outerShdw>
          </a:effectLst>
        </p:spPr>
      </p:sp>
      <p:sp>
        <p:nvSpPr>
          <p:cNvPr id="9" name="Text 7"/>
          <p:cNvSpPr/>
          <p:nvPr/>
        </p:nvSpPr>
        <p:spPr>
          <a:xfrm>
            <a:off x="4846320" y="1508760"/>
            <a:ext cx="3749040" cy="274320"/>
          </a:xfrm>
          <a:prstGeom prst="rect">
            <a:avLst/>
          </a:prstGeom>
          <a:noFill/>
          <a:ln/>
        </p:spPr>
        <p:txBody>
          <a:bodyPr wrap="square" lIns="0" tIns="0" rIns="0" bIns="0" rtlCol="0" anchor="ctr"/>
          <a:lstStyle/>
          <a:p>
            <a:pPr marL="0" indent="0">
              <a:buNone/>
            </a:pPr>
            <a:r>
              <a:rPr lang="en-US" sz="1150" b="1" dirty="0">
                <a:solidFill>
                  <a:srgbClr val="0D5C63"/>
                </a:solidFill>
                <a:latin typeface="Arial" pitchFamily="34" charset="0"/>
                <a:ea typeface="Arial" pitchFamily="34" charset="-122"/>
                <a:cs typeface="Arial" pitchFamily="34" charset="-120"/>
              </a:rPr>
              <a:t>Documentation</a:t>
            </a:r>
            <a:endParaRPr lang="en-US" sz="1150" dirty="0"/>
          </a:p>
        </p:txBody>
      </p:sp>
      <p:sp>
        <p:nvSpPr>
          <p:cNvPr id="10" name="Text 8"/>
          <p:cNvSpPr/>
          <p:nvPr/>
        </p:nvSpPr>
        <p:spPr>
          <a:xfrm>
            <a:off x="4846320" y="1819656"/>
            <a:ext cx="3749040" cy="822960"/>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Gen-AI assisted in drafting and formatting the project report and presentation structure. All content, data interpretations, and clinical recommendations are the student's original analysis.</a:t>
            </a:r>
            <a:endParaRPr lang="en-US" sz="950" dirty="0"/>
          </a:p>
        </p:txBody>
      </p:sp>
      <p:sp>
        <p:nvSpPr>
          <p:cNvPr id="11" name="Shape 9"/>
          <p:cNvSpPr/>
          <p:nvPr/>
        </p:nvSpPr>
        <p:spPr>
          <a:xfrm>
            <a:off x="411480" y="2880360"/>
            <a:ext cx="4069080" cy="1325880"/>
          </a:xfrm>
          <a:prstGeom prst="roundRect">
            <a:avLst>
              <a:gd name="adj" fmla="val 6897"/>
            </a:avLst>
          </a:prstGeom>
          <a:solidFill>
            <a:srgbClr val="CCEDE9"/>
          </a:solidFill>
          <a:ln/>
          <a:effectLst>
            <a:outerShdw blurRad="101600" dist="38100" dir="2700000" algn="bl" rotWithShape="0">
              <a:srgbClr val="000000">
                <a:alpha val="12000"/>
              </a:srgbClr>
            </a:outerShdw>
          </a:effectLst>
        </p:spPr>
      </p:sp>
      <p:sp>
        <p:nvSpPr>
          <p:cNvPr id="12" name="Text 10"/>
          <p:cNvSpPr/>
          <p:nvPr/>
        </p:nvSpPr>
        <p:spPr>
          <a:xfrm>
            <a:off x="594360" y="2971800"/>
            <a:ext cx="3749040" cy="274320"/>
          </a:xfrm>
          <a:prstGeom prst="rect">
            <a:avLst/>
          </a:prstGeom>
          <a:noFill/>
          <a:ln/>
        </p:spPr>
        <p:txBody>
          <a:bodyPr wrap="square" lIns="0" tIns="0" rIns="0" bIns="0" rtlCol="0" anchor="ctr"/>
          <a:lstStyle/>
          <a:p>
            <a:pPr marL="0" indent="0">
              <a:buNone/>
            </a:pPr>
            <a:r>
              <a:rPr lang="en-US" sz="1150" b="1" dirty="0">
                <a:solidFill>
                  <a:srgbClr val="0D5C63"/>
                </a:solidFill>
                <a:latin typeface="Arial" pitchFamily="34" charset="0"/>
                <a:ea typeface="Arial" pitchFamily="34" charset="-122"/>
                <a:cs typeface="Arial" pitchFamily="34" charset="-120"/>
              </a:rPr>
              <a:t>Not Used For</a:t>
            </a:r>
            <a:endParaRPr lang="en-US" sz="1150" dirty="0"/>
          </a:p>
        </p:txBody>
      </p:sp>
      <p:sp>
        <p:nvSpPr>
          <p:cNvPr id="13" name="Text 11"/>
          <p:cNvSpPr/>
          <p:nvPr/>
        </p:nvSpPr>
        <p:spPr>
          <a:xfrm>
            <a:off x="594360" y="3282696"/>
            <a:ext cx="3749040" cy="822960"/>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Gen-AI was NOT used to generate, fabricate, or modify any data. All results, AUC scores, variable importance rankings, and readmission rate tables are direct outputs of code run on the original UCI dataset.</a:t>
            </a:r>
            <a:endParaRPr lang="en-US" sz="950" dirty="0"/>
          </a:p>
        </p:txBody>
      </p:sp>
      <p:sp>
        <p:nvSpPr>
          <p:cNvPr id="14" name="Shape 12"/>
          <p:cNvSpPr/>
          <p:nvPr/>
        </p:nvSpPr>
        <p:spPr>
          <a:xfrm>
            <a:off x="4663440" y="2880360"/>
            <a:ext cx="4069080" cy="1325880"/>
          </a:xfrm>
          <a:prstGeom prst="roundRect">
            <a:avLst>
              <a:gd name="adj" fmla="val 6897"/>
            </a:avLst>
          </a:prstGeom>
          <a:solidFill>
            <a:srgbClr val="FFFFFF"/>
          </a:solidFill>
          <a:ln/>
          <a:effectLst>
            <a:outerShdw blurRad="101600" dist="38100" dir="2700000" algn="bl" rotWithShape="0">
              <a:srgbClr val="000000">
                <a:alpha val="12000"/>
              </a:srgbClr>
            </a:outerShdw>
          </a:effectLst>
        </p:spPr>
      </p:sp>
      <p:sp>
        <p:nvSpPr>
          <p:cNvPr id="15" name="Text 13"/>
          <p:cNvSpPr/>
          <p:nvPr/>
        </p:nvSpPr>
        <p:spPr>
          <a:xfrm>
            <a:off x="4846320" y="2971800"/>
            <a:ext cx="3749040" cy="274320"/>
          </a:xfrm>
          <a:prstGeom prst="rect">
            <a:avLst/>
          </a:prstGeom>
          <a:noFill/>
          <a:ln/>
        </p:spPr>
        <p:txBody>
          <a:bodyPr wrap="square" lIns="0" tIns="0" rIns="0" bIns="0" rtlCol="0" anchor="ctr"/>
          <a:lstStyle/>
          <a:p>
            <a:pPr marL="0" indent="0">
              <a:buNone/>
            </a:pPr>
            <a:r>
              <a:rPr lang="en-US" sz="1150" b="1" dirty="0">
                <a:solidFill>
                  <a:srgbClr val="0D5C63"/>
                </a:solidFill>
                <a:latin typeface="Arial" pitchFamily="34" charset="0"/>
                <a:ea typeface="Arial" pitchFamily="34" charset="-122"/>
                <a:cs typeface="Arial" pitchFamily="34" charset="-120"/>
              </a:rPr>
              <a:t>Turnitin Note</a:t>
            </a:r>
            <a:endParaRPr lang="en-US" sz="1150" dirty="0"/>
          </a:p>
        </p:txBody>
      </p:sp>
      <p:sp>
        <p:nvSpPr>
          <p:cNvPr id="16" name="Text 14"/>
          <p:cNvSpPr/>
          <p:nvPr/>
        </p:nvSpPr>
        <p:spPr>
          <a:xfrm>
            <a:off x="4846320" y="3282696"/>
            <a:ext cx="3749040" cy="822960"/>
          </a:xfrm>
          <a:prstGeom prst="rect">
            <a:avLst/>
          </a:prstGeom>
          <a:noFill/>
          <a:ln/>
        </p:spPr>
        <p:txBody>
          <a:bodyPr wrap="square" lIns="0" tIns="0" rIns="0" bIns="0" rtlCol="0" anchor="ctr"/>
          <a:lstStyle/>
          <a:p>
            <a:pPr marL="0" indent="0">
              <a:buNone/>
            </a:pPr>
            <a:r>
              <a:rPr lang="en-US" sz="950" dirty="0">
                <a:solidFill>
                  <a:srgbClr val="0D2B2E"/>
                </a:solidFill>
                <a:latin typeface="Arial" pitchFamily="34" charset="0"/>
                <a:ea typeface="Arial" pitchFamily="34" charset="-122"/>
                <a:cs typeface="Arial" pitchFamily="34" charset="-120"/>
              </a:rPr>
              <a:t>This presentation and the accompanying report were checked for plagiarism. All external sources are cited. The clinical data insights and recommendations are derived directly from the student's original analysis of the dataset.</a:t>
            </a:r>
            <a:endParaRPr lang="en-US" sz="950" dirty="0"/>
          </a:p>
        </p:txBody>
      </p:sp>
      <p:sp>
        <p:nvSpPr>
          <p:cNvPr id="17" name="Shape 15"/>
          <p:cNvSpPr/>
          <p:nvPr/>
        </p:nvSpPr>
        <p:spPr>
          <a:xfrm>
            <a:off x="411480" y="4800600"/>
            <a:ext cx="8321040" cy="0"/>
          </a:xfrm>
          <a:prstGeom prst="line">
            <a:avLst/>
          </a:prstGeom>
          <a:noFill/>
          <a:ln w="12700">
            <a:solidFill>
              <a:srgbClr val="0D9488"/>
            </a:solidFill>
            <a:prstDash val="solid"/>
          </a:ln>
        </p:spPr>
      </p:sp>
      <p:sp>
        <p:nvSpPr>
          <p:cNvPr id="18" name="Text 16"/>
          <p:cNvSpPr/>
          <p:nvPr/>
        </p:nvSpPr>
        <p:spPr>
          <a:xfrm>
            <a:off x="411480" y="4846320"/>
            <a:ext cx="8321040" cy="20116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Akshara Miriyala  |  MS Business Analytics  |  University of Cincinnati  |  BANA 7099 Capstone</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29223"/>
    </mc:Choice>
    <mc:Fallback xmlns="">
      <p:transition spd="slow" advTm="2922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TotalTime>
  <Words>2616</Words>
  <Application>Microsoft Office PowerPoint</Application>
  <PresentationFormat>On-screen Show (16:9)</PresentationFormat>
  <Paragraphs>285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Miriyala_Akshara_CapPres_Draft</dc:title>
  <dc:subject>PptxGenJS Presentation</dc:subject>
  <dc:creator>Akshara Miriyala</dc:creator>
  <cp:lastModifiedBy>akshara miriyala</cp:lastModifiedBy>
  <cp:revision>4</cp:revision>
  <dcterms:created xsi:type="dcterms:W3CDTF">2026-07-08T20:50:51Z</dcterms:created>
  <dcterms:modified xsi:type="dcterms:W3CDTF">2026-08-14T23:06:41Z</dcterms:modified>
</cp:coreProperties>
</file>